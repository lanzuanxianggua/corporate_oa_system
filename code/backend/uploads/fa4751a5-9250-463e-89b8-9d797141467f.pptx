
<file path=[Content_Types].xml><?xml version="1.0" encoding="utf-8"?>
<Types xmlns="http://schemas.openxmlformats.org/package/2006/content-types">
  <Default Extension="jpeg" ContentType="image/jpeg"/>
  <Default Extension="JPG" ContentType="image/.jpg"/>
  <Default Extension="png" ContentType="image/png"/>
  <Default Extension="m4a" ContentType="audi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423" r:id="rId3"/>
    <p:sldId id="435" r:id="rId4"/>
    <p:sldId id="447" r:id="rId5"/>
    <p:sldId id="698" r:id="rId6"/>
    <p:sldId id="700" r:id="rId7"/>
  </p:sldIdLst>
  <p:sldSz cx="9144000" cy="6858000" type="screen4x3"/>
  <p:notesSz cx="6858000" cy="9144000"/>
  <p:defaultTextStyle>
    <a:defPPr>
      <a:defRPr lang="zh-CN"/>
    </a:defPPr>
    <a:lvl1pPr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7" autoAdjust="0"/>
    <p:restoredTop sz="90738" autoAdjust="0"/>
  </p:normalViewPr>
  <p:slideViewPr>
    <p:cSldViewPr showGuides="1">
      <p:cViewPr varScale="1">
        <p:scale>
          <a:sx n="106" d="100"/>
          <a:sy n="106" d="100"/>
        </p:scale>
        <p:origin x="1284"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48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smtClean="0">
                <a:latin typeface="Arial" panose="020B0604020202020204" pitchFamily="34" charset="0"/>
              </a:defRPr>
            </a:lvl1pPr>
          </a:lstStyle>
          <a:p>
            <a:pPr>
              <a:defRPr/>
            </a:pPr>
            <a:endParaRPr lang="en-US" altLang="zh-CN"/>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smtClean="0">
                <a:latin typeface="Arial" panose="020B0604020202020204" pitchFamily="34" charset="0"/>
              </a:defRPr>
            </a:lvl1pPr>
          </a:lstStyle>
          <a:p>
            <a:pPr>
              <a:defRPr/>
            </a:pPr>
            <a:endParaRPr lang="en-US" altLang="zh-CN"/>
          </a:p>
        </p:txBody>
      </p:sp>
      <p:sp>
        <p:nvSpPr>
          <p:cNvPr id="3604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smtClean="0">
                <a:latin typeface="Arial" panose="020B0604020202020204" pitchFamily="34"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smtClean="0">
                <a:latin typeface="Arial" panose="020B0604020202020204" pitchFamily="34" charset="0"/>
              </a:defRPr>
            </a:lvl1pPr>
          </a:lstStyle>
          <a:p>
            <a:pPr>
              <a:defRPr/>
            </a:pPr>
            <a:fld id="{C350F5C1-967F-4207-BC63-3F1BFA8C80E2}"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b="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a:defRPr/>
              </a:pPr>
              <a:endParaRPr lang="zh-CN" altLang="zh-CN" sz="2400" b="0">
                <a:latin typeface="Times New Roman" panose="02020603050405020304" pitchFamily="18" charset="0"/>
              </a:endParaRPr>
            </a:p>
          </p:txBody>
        </p:sp>
        <p:grpSp>
          <p:nvGrpSpPr>
            <p:cNvPr id="7" name="Group 5"/>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ln>
            </p:spPr>
            <p:txBody>
              <a:bodyPr/>
              <a:lstStyle/>
              <a:p>
                <a:pPr>
                  <a:defRPr/>
                </a:pPr>
                <a:endParaRPr lang="zh-CN" altLang="zh-CN" sz="2400" b="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ln>
            </p:spPr>
            <p:txBody>
              <a:bodyPr/>
              <a:lstStyle/>
              <a:p>
                <a:pPr>
                  <a:defRPr/>
                </a:pPr>
                <a:endParaRPr lang="zh-CN" altLang="zh-CN" sz="2400" b="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ln>
            </p:spPr>
            <p:txBody>
              <a:bodyPr/>
              <a:lstStyle/>
              <a:p>
                <a:pPr>
                  <a:defRPr/>
                </a:pPr>
                <a:endParaRPr lang="zh-CN" altLang="zh-CN" sz="2400" b="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ln>
            </p:spPr>
            <p:txBody>
              <a:bodyPr/>
              <a:lstStyle/>
              <a:p>
                <a:pPr>
                  <a:defRPr/>
                </a:pPr>
                <a:endParaRPr lang="zh-CN" altLang="zh-CN" sz="2400" b="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ln>
            </p:spPr>
            <p:txBody>
              <a:bodyPr/>
              <a:lstStyle/>
              <a:p>
                <a:pPr>
                  <a:defRPr/>
                </a:pPr>
                <a:endParaRPr lang="zh-CN" altLang="zh-CN" sz="2400" b="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ln>
            </p:spPr>
            <p:txBody>
              <a:bodyPr/>
              <a:lstStyle/>
              <a:p>
                <a:pPr>
                  <a:defRPr/>
                </a:pPr>
                <a:endParaRPr lang="zh-CN" altLang="zh-CN" sz="2400" b="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ln>
            </p:spPr>
            <p:txBody>
              <a:bodyPr/>
              <a:lstStyle/>
              <a:p>
                <a:pPr>
                  <a:defRPr/>
                </a:pPr>
                <a:endParaRPr lang="zh-CN" altLang="zh-CN" sz="2400" b="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ln>
            </p:spPr>
            <p:txBody>
              <a:bodyPr/>
              <a:lstStyle/>
              <a:p>
                <a:pPr>
                  <a:defRPr/>
                </a:pPr>
                <a:endParaRPr lang="zh-CN" altLang="zh-CN" sz="2400" b="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ln>
            </p:spPr>
            <p:txBody>
              <a:bodyPr/>
              <a:lstStyle/>
              <a:p>
                <a:pPr>
                  <a:defRPr/>
                </a:pPr>
                <a:endParaRPr lang="zh-CN" altLang="zh-CN" sz="2400" b="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ln>
            </p:spPr>
            <p:txBody>
              <a:bodyPr/>
              <a:lstStyle/>
              <a:p>
                <a:pPr>
                  <a:defRPr/>
                </a:pPr>
                <a:endParaRPr lang="zh-CN" altLang="zh-CN" sz="2400" b="0">
                  <a:latin typeface="Times New Roman" panose="02020603050405020304" pitchFamily="18" charset="0"/>
                </a:endParaRPr>
              </a:p>
            </p:txBody>
          </p:sp>
        </p:grpSp>
      </p:grpSp>
      <p:sp>
        <p:nvSpPr>
          <p:cNvPr id="49171"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49172"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18" name="Rectangle 16"/>
          <p:cNvSpPr>
            <a:spLocks noGrp="1" noChangeArrowheads="1"/>
          </p:cNvSpPr>
          <p:nvPr>
            <p:ph type="dt" sz="half" idx="10"/>
          </p:nvPr>
        </p:nvSpPr>
        <p:spPr>
          <a:xfrm>
            <a:off x="457200" y="6248400"/>
            <a:ext cx="2133600" cy="457200"/>
          </a:xfrm>
        </p:spPr>
        <p:txBody>
          <a:bodyPr/>
          <a:lstStyle>
            <a:lvl1pPr>
              <a:defRPr smtClean="0"/>
            </a:lvl1pPr>
          </a:lstStyle>
          <a:p>
            <a:pPr>
              <a:defRPr/>
            </a:pPr>
            <a:fld id="{AA62D1DA-BA2A-4330-8A3A-576EA7122602}" type="datetime1">
              <a:rPr lang="zh-CN" altLang="en-US" smtClean="0"/>
            </a:fld>
            <a:endParaRPr lang="en-US" altLang="zh-CN"/>
          </a:p>
        </p:txBody>
      </p:sp>
      <p:sp>
        <p:nvSpPr>
          <p:cNvPr id="20" name="Rectangle 18"/>
          <p:cNvSpPr>
            <a:spLocks noGrp="1" noChangeArrowheads="1"/>
          </p:cNvSpPr>
          <p:nvPr>
            <p:ph type="sldNum" sz="quarter" idx="12"/>
          </p:nvPr>
        </p:nvSpPr>
        <p:spPr/>
        <p:txBody>
          <a:bodyPr/>
          <a:lstStyle>
            <a:lvl1pPr>
              <a:defRPr smtClean="0"/>
            </a:lvl1pPr>
          </a:lstStyle>
          <a:p>
            <a:pPr>
              <a:defRPr/>
            </a:pPr>
            <a:fld id="{CA2635F9-E061-4E44-BF7C-9A93063CC32C}"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3"/>
          <p:cNvSpPr>
            <a:spLocks noGrp="1" noChangeArrowheads="1"/>
          </p:cNvSpPr>
          <p:nvPr>
            <p:ph type="sldNum" sz="quarter" idx="11"/>
          </p:nvPr>
        </p:nvSpPr>
        <p:spPr/>
        <p:txBody>
          <a:bodyPr/>
          <a:lstStyle>
            <a:lvl1pPr>
              <a:defRPr/>
            </a:lvl1pPr>
          </a:lstStyle>
          <a:p>
            <a:pPr>
              <a:defRPr/>
            </a:pPr>
            <a:fld id="{0BC6FA1B-3156-46B2-B667-4315EF3281D3}" type="slidenum">
              <a:rPr lang="en-US" altLang="zh-CN"/>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fld id="{A443095C-E568-4A73-8A52-28EF44DB60CF}" type="datetime1">
              <a:rPr lang="zh-CN" altLang="en-US" smtClean="0"/>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D74399E5-D690-440A-8F35-E003B94AB15D}" type="slidenum">
              <a:rPr lang="en-US" altLang="zh-CN"/>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fld id="{C5E89C1C-8099-4D1A-83C2-5BA3575D3620}" type="datetime1">
              <a:rPr lang="zh-CN" altLang="en-US" smtClean="0"/>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499ABB90-419B-472D-9EF0-CA01C17A03BF}" type="slidenum">
              <a:rPr lang="en-US" altLang="zh-CN"/>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fld id="{08E3BC66-8F75-4C50-82EC-AC83063DC3D1}" type="datetime1">
              <a:rPr lang="zh-CN" altLang="en-US" smtClean="0"/>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a:defRPr/>
            </a:lvl1pPr>
          </a:lstStyle>
          <a:p>
            <a:pPr>
              <a:defRPr/>
            </a:pPr>
            <a:fld id="{D78A3737-4212-4AF4-91E8-D4DE36C17C87}" type="slidenum">
              <a:rPr lang="en-US" altLang="zh-CN"/>
            </a:fld>
            <a:endParaRPr lang="en-US" altLang="zh-CN"/>
          </a:p>
        </p:txBody>
      </p:sp>
      <p:sp>
        <p:nvSpPr>
          <p:cNvPr id="9" name="Rectangle 16"/>
          <p:cNvSpPr>
            <a:spLocks noGrp="1" noChangeArrowheads="1"/>
          </p:cNvSpPr>
          <p:nvPr>
            <p:ph type="dt" sz="half" idx="12"/>
          </p:nvPr>
        </p:nvSpPr>
        <p:spPr/>
        <p:txBody>
          <a:bodyPr/>
          <a:lstStyle>
            <a:lvl1pPr>
              <a:defRPr/>
            </a:lvl1pPr>
          </a:lstStyle>
          <a:p>
            <a:pPr>
              <a:defRPr/>
            </a:pPr>
            <a:fld id="{49759459-008E-431A-9CDF-4B1EC933F773}" type="datetime1">
              <a:rPr lang="zh-CN" altLang="en-US" smtClean="0"/>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811EF437-67C4-450C-B321-818E504B7ED0}" type="slidenum">
              <a:rPr lang="en-US" altLang="zh-CN"/>
            </a:fld>
            <a:endParaRPr lang="en-US" altLang="zh-CN"/>
          </a:p>
        </p:txBody>
      </p:sp>
      <p:sp>
        <p:nvSpPr>
          <p:cNvPr id="5" name="Rectangle 16"/>
          <p:cNvSpPr>
            <a:spLocks noGrp="1" noChangeArrowheads="1"/>
          </p:cNvSpPr>
          <p:nvPr>
            <p:ph type="dt" sz="half" idx="12"/>
          </p:nvPr>
        </p:nvSpPr>
        <p:spPr/>
        <p:txBody>
          <a:bodyPr/>
          <a:lstStyle>
            <a:lvl1pPr>
              <a:defRPr/>
            </a:lvl1pPr>
          </a:lstStyle>
          <a:p>
            <a:pPr>
              <a:defRPr/>
            </a:pPr>
            <a:fld id="{D1DD0939-43A8-4B39-9CF1-16FE447723C8}" type="datetime1">
              <a:rPr lang="zh-CN" altLang="en-US" smtClean="0"/>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Rectangle 3"/>
          <p:cNvSpPr>
            <a:spLocks noGrp="1" noChangeArrowheads="1"/>
          </p:cNvSpPr>
          <p:nvPr>
            <p:ph type="sldNum" sz="quarter" idx="11"/>
          </p:nvPr>
        </p:nvSpPr>
        <p:spPr/>
        <p:txBody>
          <a:bodyPr/>
          <a:lstStyle>
            <a:lvl1pPr>
              <a:defRPr/>
            </a:lvl1pPr>
          </a:lstStyle>
          <a:p>
            <a:pPr>
              <a:defRPr/>
            </a:pPr>
            <a:fld id="{BBB7BDC5-DAE5-490F-8D4F-9D29C502AE66}" type="slidenum">
              <a:rPr lang="en-US" altLang="zh-CN"/>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fld id="{8D6170E5-CA55-471D-A730-2ED6007E8934}" type="datetime1">
              <a:rPr lang="zh-CN" altLang="en-US" smtClean="0"/>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8F9B0659-2829-4B5E-B607-36290641F368}" type="slidenum">
              <a:rPr lang="en-US" altLang="zh-CN"/>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fld id="{2FB37C36-C120-4B39-A49C-D88F7D20CB78}" type="datetime1">
              <a:rPr lang="zh-CN" altLang="en-US" smtClean="0"/>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4562E456-6813-4BD5-AC98-C590E3CC17BF}" type="slidenum">
              <a:rPr lang="en-US" altLang="zh-CN"/>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fld id="{99C041EA-612C-463E-8041-2666E5FD9A94}" type="datetime1">
              <a:rPr lang="zh-CN" altLang="en-US" smtClean="0"/>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BF2D1912-9BA7-4158-89A8-3690B1C895E2}" type="slidenum">
              <a:rPr lang="en-US" altLang="zh-CN"/>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fld id="{FC139581-1BD0-4AA2-83D0-698030C70A96}" type="datetime1">
              <a:rPr lang="zh-CN" altLang="en-US" smtClean="0"/>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9959D901-F288-4566-91F1-5BB49F4C9C61}" type="slidenum">
              <a:rPr lang="en-US" altLang="zh-CN"/>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fld id="{516453F8-3CC6-4EB0-B1E3-FB9CA24ED902}" type="datetime1">
              <a:rPr lang="zh-CN" altLang="en-US"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b="0" smtClean="0">
                <a:latin typeface="Arial" panose="020B0604020202020204" pitchFamily="34" charset="0"/>
              </a:defRPr>
            </a:lvl1pPr>
          </a:lstStyle>
          <a:p>
            <a:pPr>
              <a:defRPr/>
            </a:pPr>
            <a:endParaRPr lang="en-US" altLang="zh-CN"/>
          </a:p>
        </p:txBody>
      </p:sp>
      <p:sp>
        <p:nvSpPr>
          <p:cNvPr id="48131"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b="0" smtClean="0">
                <a:latin typeface="Arial Black" panose="020B0A04020102020204" pitchFamily="34" charset="0"/>
              </a:defRPr>
            </a:lvl1pPr>
          </a:lstStyle>
          <a:p>
            <a:pPr>
              <a:defRPr/>
            </a:pPr>
            <a:fld id="{B0244105-B0C9-4906-8849-B8EB54846CE4}" type="slidenum">
              <a:rPr lang="en-US" altLang="zh-CN"/>
            </a:fld>
            <a:endParaRPr lang="en-US" altLang="zh-CN"/>
          </a:p>
        </p:txBody>
      </p:sp>
      <p:grpSp>
        <p:nvGrpSpPr>
          <p:cNvPr id="3076" name="Group 4"/>
          <p:cNvGrpSpPr/>
          <p:nvPr/>
        </p:nvGrpSpPr>
        <p:grpSpPr bwMode="auto">
          <a:xfrm>
            <a:off x="0" y="0"/>
            <a:ext cx="9144000" cy="546100"/>
            <a:chOff x="0" y="0"/>
            <a:chExt cx="5760" cy="344"/>
          </a:xfrm>
        </p:grpSpPr>
        <p:sp>
          <p:nvSpPr>
            <p:cNvPr id="4813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b="0">
                <a:latin typeface="Times New Roman" panose="02020603050405020304" pitchFamily="18" charset="0"/>
              </a:endParaRPr>
            </a:p>
          </p:txBody>
        </p:sp>
        <p:sp>
          <p:nvSpPr>
            <p:cNvPr id="4813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a:defRPr/>
              </a:pPr>
              <a:endParaRPr lang="zh-CN" altLang="zh-CN" sz="2400" b="0">
                <a:latin typeface="Times New Roman" panose="02020603050405020304" pitchFamily="18" charset="0"/>
              </a:endParaRPr>
            </a:p>
          </p:txBody>
        </p:sp>
        <p:sp>
          <p:nvSpPr>
            <p:cNvPr id="48135"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a:defRPr/>
              </a:pPr>
              <a:endParaRPr lang="zh-CN" altLang="zh-CN" b="0">
                <a:solidFill>
                  <a:schemeClr val="hlink"/>
                </a:solidFill>
                <a:latin typeface="Arial" panose="020B0604020202020204" pitchFamily="34" charset="0"/>
              </a:endParaRPr>
            </a:p>
          </p:txBody>
        </p:sp>
        <p:sp>
          <p:nvSpPr>
            <p:cNvPr id="48136"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a:defRPr/>
              </a:pPr>
              <a:endParaRPr lang="zh-CN" altLang="zh-CN" b="0">
                <a:solidFill>
                  <a:schemeClr val="hlink"/>
                </a:solidFill>
                <a:latin typeface="Arial" panose="020B0604020202020204" pitchFamily="34" charset="0"/>
              </a:endParaRPr>
            </a:p>
          </p:txBody>
        </p:sp>
        <p:sp>
          <p:nvSpPr>
            <p:cNvPr id="48137"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a:defRPr/>
              </a:pPr>
              <a:endParaRPr lang="zh-CN" altLang="zh-CN" b="0">
                <a:solidFill>
                  <a:schemeClr val="accent2"/>
                </a:solidFill>
                <a:latin typeface="Arial" panose="020B0604020202020204" pitchFamily="34" charset="0"/>
              </a:endParaRPr>
            </a:p>
          </p:txBody>
        </p:sp>
        <p:sp>
          <p:nvSpPr>
            <p:cNvPr id="48138"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a:defRPr/>
              </a:pPr>
              <a:endParaRPr lang="zh-CN" altLang="zh-CN" b="0">
                <a:solidFill>
                  <a:schemeClr val="hlink"/>
                </a:solidFill>
                <a:latin typeface="Arial" panose="020B0604020202020204" pitchFamily="34" charset="0"/>
              </a:endParaRPr>
            </a:p>
          </p:txBody>
        </p:sp>
        <p:sp>
          <p:nvSpPr>
            <p:cNvPr id="48139"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a:defRPr/>
              </a:pPr>
              <a:endParaRPr lang="zh-CN" altLang="zh-CN" sz="2400" b="0">
                <a:latin typeface="Times New Roman" panose="02020603050405020304" pitchFamily="18" charset="0"/>
              </a:endParaRPr>
            </a:p>
          </p:txBody>
        </p:sp>
        <p:sp>
          <p:nvSpPr>
            <p:cNvPr id="48140"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a:defRPr/>
              </a:pPr>
              <a:endParaRPr lang="zh-CN" altLang="zh-CN" b="0">
                <a:solidFill>
                  <a:schemeClr val="accent2"/>
                </a:solidFill>
                <a:latin typeface="Arial" panose="020B0604020202020204" pitchFamily="34" charset="0"/>
              </a:endParaRPr>
            </a:p>
          </p:txBody>
        </p:sp>
        <p:sp>
          <p:nvSpPr>
            <p:cNvPr id="48141"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a:defRPr/>
              </a:pPr>
              <a:endParaRPr lang="zh-CN" altLang="zh-CN" b="0">
                <a:solidFill>
                  <a:schemeClr val="accent2"/>
                </a:solidFill>
                <a:latin typeface="Arial" panose="020B0604020202020204" pitchFamily="34" charset="0"/>
              </a:endParaRPr>
            </a:p>
          </p:txBody>
        </p:sp>
      </p:grpSp>
      <p:sp>
        <p:nvSpPr>
          <p:cNvPr id="3077" name="Rectangle 14"/>
          <p:cNvSpPr>
            <a:spLocks noGrp="1" noChangeArrowheads="1"/>
          </p:cNvSpPr>
          <p:nvPr>
            <p:ph type="title"/>
          </p:nvPr>
        </p:nvSpPr>
        <p:spPr bwMode="auto">
          <a:xfrm>
            <a:off x="457200" y="457200"/>
            <a:ext cx="8229600" cy="739552"/>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3078" name="Rectangle 15"/>
          <p:cNvSpPr>
            <a:spLocks noGrp="1" noChangeArrowheads="1"/>
          </p:cNvSpPr>
          <p:nvPr>
            <p:ph type="body" idx="1"/>
          </p:nvPr>
        </p:nvSpPr>
        <p:spPr bwMode="auto">
          <a:xfrm>
            <a:off x="150060" y="1384300"/>
            <a:ext cx="8814427" cy="4708996"/>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8144"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b="0" smtClean="0">
                <a:latin typeface="Arial" panose="020B0604020202020204" pitchFamily="34" charset="0"/>
              </a:defRPr>
            </a:lvl1pPr>
          </a:lstStyle>
          <a:p>
            <a:pPr>
              <a:defRPr/>
            </a:pPr>
            <a:fld id="{852F4A24-2377-4620-AA2A-56054047514B}" type="datetime1">
              <a:rPr lang="zh-CN" altLang="en-US"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6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4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0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18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18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media" Target="../media/media2.m4a"/><Relationship Id="rId5" Type="http://schemas.openxmlformats.org/officeDocument/2006/relationships/audio" Target="../media/media2.m4a"/><Relationship Id="rId4" Type="http://schemas.openxmlformats.org/officeDocument/2006/relationships/image" Target="../media/image2.png"/><Relationship Id="rId3" Type="http://schemas.microsoft.com/office/2007/relationships/media" Target="../media/media1.m4a"/><Relationship Id="rId2" Type="http://schemas.openxmlformats.org/officeDocument/2006/relationships/audio" Target="../media/media1.m4a"/><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media" Target="../media/media5.m4a"/><Relationship Id="rId7" Type="http://schemas.openxmlformats.org/officeDocument/2006/relationships/audio" Target="../media/media5.m4a"/><Relationship Id="rId6" Type="http://schemas.microsoft.com/office/2007/relationships/media" Target="../media/media4.m4a"/><Relationship Id="rId5" Type="http://schemas.openxmlformats.org/officeDocument/2006/relationships/audio" Target="../media/media4.m4a"/><Relationship Id="rId4" Type="http://schemas.openxmlformats.org/officeDocument/2006/relationships/image" Target="../media/image2.png"/><Relationship Id="rId3" Type="http://schemas.microsoft.com/office/2007/relationships/media" Target="../media/media3.m4a"/><Relationship Id="rId2" Type="http://schemas.openxmlformats.org/officeDocument/2006/relationships/audio" Target="../media/media3.m4a"/><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media" Target="../media/media6.m4a"/><Relationship Id="rId3" Type="http://schemas.openxmlformats.org/officeDocument/2006/relationships/audio" Target="../media/media6.m4a"/><Relationship Id="rId2" Type="http://schemas.openxmlformats.org/officeDocument/2006/relationships/image" Target="../media/image1.jpeg"/><Relationship Id="rId1" Type="http://schemas.openxmlformats.org/officeDocument/2006/relationships/hyperlink" Target="https://www.kdocs.cn/l/cgvczcfa0Y4q" TargetMode="Externa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media" Target="../media/media7.m4a"/><Relationship Id="rId3" Type="http://schemas.openxmlformats.org/officeDocument/2006/relationships/audio" Target="../media/media7.m4a"/><Relationship Id="rId2" Type="http://schemas.openxmlformats.org/officeDocument/2006/relationships/image" Target="../media/image1.jpeg"/><Relationship Id="rId1" Type="http://schemas.openxmlformats.org/officeDocument/2006/relationships/hyperlink" Target="https://www.kdocs.cn/l/cd68xEgwsYc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灯片编号占位符 4"/>
          <p:cNvSpPr>
            <a:spLocks noGrp="1"/>
          </p:cNvSpPr>
          <p:nvPr>
            <p:ph type="sldNum" sz="quarter" idx="11"/>
          </p:nvPr>
        </p:nvSpPr>
        <p:spPr>
          <a:noFill/>
        </p:spPr>
        <p:txBody>
          <a:bodyPr/>
          <a:lstStyle/>
          <a:p>
            <a:fld id="{644C3E37-19C2-4DED-ABC4-07FB8C0B610D}" type="slidenum">
              <a:rPr lang="en-US" altLang="zh-CN"/>
            </a:fld>
            <a:endParaRPr lang="en-US" altLang="zh-CN"/>
          </a:p>
        </p:txBody>
      </p:sp>
      <p:sp>
        <p:nvSpPr>
          <p:cNvPr id="153605" name="Rectangle 2"/>
          <p:cNvSpPr>
            <a:spLocks noGrp="1" noChangeArrowheads="1"/>
          </p:cNvSpPr>
          <p:nvPr>
            <p:ph type="title"/>
          </p:nvPr>
        </p:nvSpPr>
        <p:spPr>
          <a:xfrm>
            <a:off x="457200" y="646905"/>
            <a:ext cx="8229600" cy="849313"/>
          </a:xfrm>
        </p:spPr>
        <p:txBody>
          <a:bodyPr/>
          <a:lstStyle/>
          <a:p>
            <a:pPr algn="ctr" eaLnBrk="1" hangingPunct="1"/>
            <a:r>
              <a:rPr lang="zh-CN" altLang="en-US" b="1" dirty="0">
                <a:solidFill>
                  <a:schemeClr val="bg2"/>
                </a:solidFill>
                <a:latin typeface="Times New Roman" panose="02020603050405020304" pitchFamily="18" charset="0"/>
              </a:rPr>
              <a:t>作业 </a:t>
            </a:r>
            <a:r>
              <a:rPr lang="en-MY" altLang="zh-CN" b="1" dirty="0">
                <a:solidFill>
                  <a:schemeClr val="bg2"/>
                </a:solidFill>
                <a:latin typeface="Times New Roman" panose="02020603050405020304" pitchFamily="18" charset="0"/>
              </a:rPr>
              <a:t>Homework 1</a:t>
            </a:r>
            <a:endParaRPr lang="en-US" altLang="zh-CN" sz="3600" b="1" dirty="0">
              <a:solidFill>
                <a:schemeClr val="folHlink"/>
              </a:solidFill>
            </a:endParaRPr>
          </a:p>
        </p:txBody>
      </p:sp>
      <p:sp>
        <p:nvSpPr>
          <p:cNvPr id="153606" name="Rectangle 3"/>
          <p:cNvSpPr>
            <a:spLocks noGrp="1" noChangeArrowheads="1"/>
          </p:cNvSpPr>
          <p:nvPr>
            <p:ph type="body" idx="1"/>
          </p:nvPr>
        </p:nvSpPr>
        <p:spPr>
          <a:xfrm>
            <a:off x="179512" y="1517938"/>
            <a:ext cx="8784976" cy="4071302"/>
          </a:xfrm>
        </p:spPr>
        <p:txBody>
          <a:bodyPr/>
          <a:lstStyle/>
          <a:p>
            <a:pPr marL="0" indent="0" eaLnBrk="1" hangingPunct="1">
              <a:buClr>
                <a:schemeClr val="tx1"/>
              </a:buClr>
              <a:buFont typeface="Wingdings" panose="05000000000000000000" pitchFamily="2" charset="2"/>
              <a:buNone/>
            </a:pPr>
            <a:r>
              <a:rPr lang="en-MY" altLang="zh-CN" sz="2800" b="1" dirty="0">
                <a:solidFill>
                  <a:schemeClr val="bg2"/>
                </a:solidFill>
                <a:latin typeface="Times New Roman" panose="02020603050405020304" pitchFamily="18" charset="0"/>
              </a:rPr>
              <a:t>Student Name </a:t>
            </a:r>
            <a:r>
              <a:rPr lang="zh-CN" altLang="en-US" sz="2800" b="1" dirty="0">
                <a:solidFill>
                  <a:schemeClr val="bg2"/>
                </a:solidFill>
                <a:latin typeface="Times New Roman" panose="02020603050405020304" pitchFamily="18" charset="0"/>
              </a:rPr>
              <a:t>姓名</a:t>
            </a:r>
            <a:r>
              <a:rPr lang="en-MY" altLang="zh-CN" sz="2800" b="1" dirty="0">
                <a:solidFill>
                  <a:schemeClr val="bg2"/>
                </a:solidFill>
                <a:latin typeface="Times New Roman" panose="02020603050405020304" pitchFamily="18" charset="0"/>
              </a:rPr>
              <a:t>:  </a:t>
            </a:r>
            <a:r>
              <a:rPr lang="zh-CN" altLang="en-MY" sz="2800" b="1" dirty="0">
                <a:solidFill>
                  <a:schemeClr val="bg2"/>
                </a:solidFill>
                <a:latin typeface="Times New Roman" panose="02020603050405020304" pitchFamily="18" charset="0"/>
              </a:rPr>
              <a:t>黄大胜</a:t>
            </a:r>
            <a:endParaRPr lang="en-MY" altLang="zh-CN" sz="2800" b="1" dirty="0">
              <a:solidFill>
                <a:srgbClr val="FF0000"/>
              </a:solidFill>
              <a:latin typeface="Times New Roman" panose="02020603050405020304" pitchFamily="18" charset="0"/>
            </a:endParaRPr>
          </a:p>
          <a:p>
            <a:pPr marL="0" indent="0" eaLnBrk="1" hangingPunct="1">
              <a:buClr>
                <a:schemeClr val="tx1"/>
              </a:buClr>
              <a:buFont typeface="Wingdings" panose="05000000000000000000" pitchFamily="2" charset="2"/>
              <a:buNone/>
            </a:pPr>
            <a:r>
              <a:rPr lang="en-MY" altLang="zh-CN" b="1" dirty="0">
                <a:solidFill>
                  <a:schemeClr val="bg2"/>
                </a:solidFill>
                <a:latin typeface="Times New Roman" panose="02020603050405020304" pitchFamily="18" charset="0"/>
              </a:rPr>
              <a:t>Student Number </a:t>
            </a:r>
            <a:r>
              <a:rPr lang="zh-CN" altLang="en-US" b="1" dirty="0">
                <a:solidFill>
                  <a:schemeClr val="bg2"/>
                </a:solidFill>
                <a:latin typeface="Times New Roman" panose="02020603050405020304" pitchFamily="18" charset="0"/>
              </a:rPr>
              <a:t>学号</a:t>
            </a:r>
            <a:r>
              <a:rPr lang="en-MY" altLang="zh-CN" b="1" dirty="0">
                <a:solidFill>
                  <a:schemeClr val="bg2"/>
                </a:solidFill>
                <a:latin typeface="Times New Roman" panose="02020603050405020304" pitchFamily="18" charset="0"/>
              </a:rPr>
              <a:t>: </a:t>
            </a:r>
            <a:r>
              <a:rPr lang="en-US" altLang="en-MY" b="1" dirty="0">
                <a:solidFill>
                  <a:schemeClr val="bg2"/>
                </a:solidFill>
                <a:latin typeface="Times New Roman" panose="02020603050405020304" pitchFamily="18" charset="0"/>
              </a:rPr>
              <a:t>233014040309</a:t>
            </a:r>
            <a:endParaRPr lang="en-MY" altLang="zh-CN" sz="2800" b="1" dirty="0">
              <a:solidFill>
                <a:srgbClr val="FF0000"/>
              </a:solidFill>
              <a:latin typeface="Times New Roman" panose="02020603050405020304" pitchFamily="18" charset="0"/>
            </a:endParaRPr>
          </a:p>
          <a:p>
            <a:pPr marL="0" indent="0" eaLnBrk="1" hangingPunct="1">
              <a:buClr>
                <a:schemeClr val="tx1"/>
              </a:buClr>
              <a:buFont typeface="Wingdings" panose="05000000000000000000" pitchFamily="2" charset="2"/>
              <a:buNone/>
            </a:pPr>
            <a:endParaRPr lang="en-MY" altLang="zh-CN" b="1" dirty="0">
              <a:solidFill>
                <a:srgbClr val="FF0000"/>
              </a:solidFill>
              <a:latin typeface="Times New Roman" panose="02020603050405020304" pitchFamily="18" charset="0"/>
            </a:endParaRPr>
          </a:p>
          <a:p>
            <a:pPr marL="0" indent="0" eaLnBrk="1" hangingPunct="1">
              <a:buClr>
                <a:schemeClr val="tx1"/>
              </a:buClr>
              <a:buFont typeface="Wingdings" panose="05000000000000000000" pitchFamily="2" charset="2"/>
              <a:buNone/>
            </a:pPr>
            <a:r>
              <a:rPr lang="en-MY" altLang="zh-CN" b="1" dirty="0">
                <a:latin typeface="Times New Roman" panose="02020603050405020304" pitchFamily="18" charset="0"/>
              </a:rPr>
              <a:t>The Question:</a:t>
            </a:r>
            <a:endParaRPr lang="en-MY" altLang="zh-CN" b="1" dirty="0">
              <a:latin typeface="Times New Roman" panose="02020603050405020304" pitchFamily="18" charset="0"/>
            </a:endParaRPr>
          </a:p>
          <a:p>
            <a:pPr marL="457200" indent="-457200" eaLnBrk="1" hangingPunct="1">
              <a:buClr>
                <a:schemeClr val="tx1"/>
              </a:buClr>
              <a:buAutoNum type="arabicPeriod"/>
            </a:pPr>
            <a:r>
              <a:rPr lang="en-MY" sz="2400" dirty="0"/>
              <a:t>Record your voice reading slides 2 and 3 then submit the answer </a:t>
            </a:r>
            <a:r>
              <a:rPr lang="zh-CN" altLang="en-US" sz="2400" dirty="0"/>
              <a:t>录制语音阅读幻灯片</a:t>
            </a:r>
            <a:r>
              <a:rPr lang="en-US" altLang="zh-CN" sz="2400" dirty="0"/>
              <a:t>2</a:t>
            </a:r>
            <a:r>
              <a:rPr lang="zh-CN" altLang="en-US" sz="2400" dirty="0"/>
              <a:t>和</a:t>
            </a:r>
            <a:r>
              <a:rPr lang="en-US" altLang="zh-CN" sz="2400" dirty="0"/>
              <a:t>3</a:t>
            </a:r>
            <a:r>
              <a:rPr lang="zh-CN" altLang="en-US" sz="2400" dirty="0"/>
              <a:t>，然后提交答案</a:t>
            </a:r>
            <a:endParaRPr lang="en-MY" altLang="zh-CN" sz="2400" dirty="0"/>
          </a:p>
          <a:p>
            <a:pPr marL="457200" indent="-457200" eaLnBrk="1" hangingPunct="1">
              <a:buClr>
                <a:schemeClr val="tx1"/>
              </a:buClr>
              <a:buAutoNum type="arabicPeriod"/>
            </a:pPr>
            <a:r>
              <a:rPr lang="en-MY" sz="2400" dirty="0"/>
              <a:t>Write the translation and record the word reading in slides 4 and 5. </a:t>
            </a:r>
            <a:r>
              <a:rPr lang="zh-CN" altLang="en-US" sz="2400" dirty="0"/>
              <a:t>在幻灯片</a:t>
            </a:r>
            <a:r>
              <a:rPr lang="en-US" altLang="zh-CN" sz="2400" dirty="0"/>
              <a:t>4</a:t>
            </a:r>
            <a:r>
              <a:rPr lang="zh-CN" altLang="en-US" sz="2400" dirty="0"/>
              <a:t>和</a:t>
            </a:r>
            <a:r>
              <a:rPr lang="en-US" altLang="zh-CN" sz="2400" dirty="0"/>
              <a:t>5</a:t>
            </a:r>
            <a:r>
              <a:rPr lang="zh-CN" altLang="en-US" sz="2400" dirty="0"/>
              <a:t>中编写翻译并记录单词阅读</a:t>
            </a:r>
            <a:endParaRPr lang="en-MY"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灯片编号占位符 4"/>
          <p:cNvSpPr>
            <a:spLocks noGrp="1"/>
          </p:cNvSpPr>
          <p:nvPr>
            <p:ph type="sldNum" sz="quarter" idx="11"/>
          </p:nvPr>
        </p:nvSpPr>
        <p:spPr>
          <a:noFill/>
        </p:spPr>
        <p:txBody>
          <a:bodyPr/>
          <a:lstStyle/>
          <a:p>
            <a:fld id="{1F3C4DB7-7992-42C9-8012-BEFBDF196125}" type="slidenum">
              <a:rPr lang="en-US" altLang="zh-CN"/>
            </a:fld>
            <a:endParaRPr lang="en-US" altLang="zh-CN"/>
          </a:p>
        </p:txBody>
      </p:sp>
      <p:sp>
        <p:nvSpPr>
          <p:cNvPr id="164869" name="Rectangle 2"/>
          <p:cNvSpPr>
            <a:spLocks noGrp="1" noChangeArrowheads="1"/>
          </p:cNvSpPr>
          <p:nvPr>
            <p:ph type="title"/>
          </p:nvPr>
        </p:nvSpPr>
        <p:spPr>
          <a:xfrm>
            <a:off x="457200" y="404664"/>
            <a:ext cx="8229600" cy="576064"/>
          </a:xfrm>
        </p:spPr>
        <p:txBody>
          <a:bodyPr/>
          <a:lstStyle/>
          <a:p>
            <a:pPr eaLnBrk="1" hangingPunct="1"/>
            <a:r>
              <a:rPr lang="en-US" altLang="zh-CN" sz="2800" dirty="0">
                <a:solidFill>
                  <a:schemeClr val="bg2"/>
                </a:solidFill>
                <a:latin typeface="Times New Roman" panose="02020603050405020304" pitchFamily="18" charset="0"/>
              </a:rPr>
              <a:t>Central Processing Unit (CPU) </a:t>
            </a:r>
            <a:endParaRPr lang="en-US" altLang="zh-CN" sz="2800" b="1" dirty="0">
              <a:solidFill>
                <a:schemeClr val="folHlink"/>
              </a:solidFill>
            </a:endParaRPr>
          </a:p>
        </p:txBody>
      </p:sp>
      <p:graphicFrame>
        <p:nvGraphicFramePr>
          <p:cNvPr id="2" name="Table 2"/>
          <p:cNvGraphicFramePr>
            <a:graphicFrameLocks noGrp="1"/>
          </p:cNvGraphicFramePr>
          <p:nvPr/>
        </p:nvGraphicFramePr>
        <p:xfrm>
          <a:off x="179512" y="1437928"/>
          <a:ext cx="8568952" cy="3382303"/>
        </p:xfrm>
        <a:graphic>
          <a:graphicData uri="http://schemas.openxmlformats.org/drawingml/2006/table">
            <a:tbl>
              <a:tblPr firstRow="1" bandRow="1">
                <a:tableStyleId>{5C22544A-7EE6-4342-B048-85BDC9FD1C3A}</a:tableStyleId>
              </a:tblPr>
              <a:tblGrid>
                <a:gridCol w="7560840"/>
                <a:gridCol w="1008112"/>
              </a:tblGrid>
              <a:tr h="341015">
                <a:tc>
                  <a:txBody>
                    <a:bodyPr/>
                    <a:lstStyle/>
                    <a:p>
                      <a:endParaRPr lang="en-GB" dirty="0"/>
                    </a:p>
                  </a:txBody>
                  <a:tcPr/>
                </a:tc>
                <a:tc>
                  <a:txBody>
                    <a:bodyPr/>
                    <a:lstStyle/>
                    <a:p>
                      <a:endParaRPr lang="en-GB" dirty="0"/>
                    </a:p>
                  </a:txBody>
                  <a:tcPr/>
                </a:tc>
              </a:tr>
              <a:tr h="869210">
                <a:tc>
                  <a:txBody>
                    <a:bodyPr/>
                    <a:lstStyle/>
                    <a:p>
                      <a:r>
                        <a:rPr lang="en-GB" dirty="0"/>
                        <a:t>The CPU means the Central Processing Unit. It is the heart of a computer system. The CPU in a microcomputer is actually one relatively small integrated circuit or chip.</a:t>
                      </a:r>
                      <a:endParaRPr lang="en-GB" dirty="0"/>
                    </a:p>
                  </a:txBody>
                  <a:tcPr/>
                </a:tc>
                <a:tc>
                  <a:txBody>
                    <a:bodyPr/>
                    <a:lstStyle/>
                    <a:p>
                      <a:endParaRPr lang="en-US" dirty="0"/>
                    </a:p>
                  </a:txBody>
                  <a:tcPr/>
                </a:tc>
              </a:tr>
              <a:tr h="2102143">
                <a:tc>
                  <a:txBody>
                    <a:bodyPr/>
                    <a:lstStyle/>
                    <a:p>
                      <a:r>
                        <a:rPr lang="en-GB" dirty="0"/>
                        <a:t>The CPU coordinates all the activities of the various components of the computer. It determines which operations should be carried out and in what order. The CPU can also retrieve information from memory and can store the results of manipulations back into the memory unit for later reference.</a:t>
                      </a:r>
                      <a:endParaRPr lang="en-GB" dirty="0"/>
                    </a:p>
                  </a:txBody>
                  <a:tcPr/>
                </a:tc>
                <a:tc>
                  <a:txBody>
                    <a:bodyPr/>
                    <a:lstStyle/>
                    <a:p>
                      <a:endParaRPr lang="en-US" dirty="0"/>
                    </a:p>
                  </a:txBody>
                  <a:tcPr/>
                </a:tc>
              </a:tr>
            </a:tbl>
          </a:graphicData>
        </a:graphic>
      </p:graphicFrame>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028384" y="1443955"/>
            <a:ext cx="301028" cy="250857"/>
          </a:xfrm>
          <a:prstGeom prst="rect">
            <a:avLst/>
          </a:prstGeom>
        </p:spPr>
      </p:pic>
      <p:pic>
        <p:nvPicPr>
          <p:cNvPr id="3" name="Paragraph1">
            <a:hlinkClick r:id="" action="ppaction://media"/>
          </p:cNvPr>
          <p:cNvPicPr/>
          <p:nvPr>
            <a:audioFile r:link="rId2"/>
            <p:extLst>
              <p:ext uri="{DAA4B4D4-6D71-4841-9C94-3DE7FCFB9230}">
                <p14:media xmlns:p14="http://schemas.microsoft.com/office/powerpoint/2010/main" r:embed="rId3"/>
              </p:ext>
            </p:extLst>
          </p:nvPr>
        </p:nvPicPr>
        <p:blipFill>
          <a:blip r:embed="rId4"/>
          <a:stretch>
            <a:fillRect/>
          </a:stretch>
        </p:blipFill>
        <p:spPr>
          <a:xfrm>
            <a:off x="7931150" y="1988820"/>
            <a:ext cx="495300" cy="495300"/>
          </a:xfrm>
          <a:prstGeom prst="rect">
            <a:avLst/>
          </a:prstGeom>
        </p:spPr>
      </p:pic>
      <p:pic>
        <p:nvPicPr>
          <p:cNvPr id="4" name="Paragraph2">
            <a:hlinkClick r:id="" action="ppaction://media"/>
          </p:cNvPr>
          <p:cNvPicPr/>
          <p:nvPr>
            <a:audioFile r:link="rId5"/>
            <p:extLst>
              <p:ext uri="{DAA4B4D4-6D71-4841-9C94-3DE7FCFB9230}">
                <p14:media xmlns:p14="http://schemas.microsoft.com/office/powerpoint/2010/main" r:embed="rId6"/>
              </p:ext>
            </p:extLst>
          </p:nvPr>
        </p:nvPicPr>
        <p:blipFill>
          <a:blip r:embed="rId4"/>
          <a:stretch>
            <a:fillRect/>
          </a:stretch>
        </p:blipFill>
        <p:spPr>
          <a:xfrm>
            <a:off x="7956550" y="3357245"/>
            <a:ext cx="495300" cy="495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14338" fill="hold"/>
                                        <p:tgtEl>
                                          <p:spTgt spid="3"/>
                                        </p:tgtEl>
                                      </p:cBhvr>
                                    </p:cmd>
                                  </p:childTnLst>
                                </p:cTn>
                              </p:par>
                            </p:childTnLst>
                          </p:cTn>
                        </p:par>
                        <p:par>
                          <p:cTn id="7" fill="hold">
                            <p:stCondLst>
                              <p:cond delay="14500"/>
                            </p:stCondLst>
                            <p:childTnLst>
                              <p:par>
                                <p:cTn id="8" presetID="1" presetClass="mediacall" presetSubtype="0" fill="hold" nodeType="afterEffect">
                                  <p:stCondLst>
                                    <p:cond delay="0"/>
                                  </p:stCondLst>
                                  <p:childTnLst>
                                    <p:cmd type="call" cmd="playFrom(0.0)">
                                      <p:cBhvr additive="base">
                                        <p:cTn id="9" dur="2595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10" fill="hold" display="1">
                  <p:stCondLst>
                    <p:cond delay="indefinite"/>
                  </p:stCondLst>
                  <p:endCondLst>
                    <p:cond evt="onStopAudio">
                      <p:tgtEl>
                        <p:sldTgt/>
                      </p:tgtEl>
                    </p:cond>
                  </p:endCondLst>
                </p:cTn>
                <p:tgtEl>
                  <p:spTgt spid="3"/>
                </p:tgtEl>
              </p:cMediaNode>
            </p:audio>
            <p:audio>
              <p:cMediaNode>
                <p:cTn id="11" fill="hold" display="1">
                  <p:stCondLst>
                    <p:cond delay="indefinite"/>
                  </p:stCondLst>
                  <p:endCondLst>
                    <p:cond evt="onStopAudio">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灯片编号占位符 4"/>
          <p:cNvSpPr>
            <a:spLocks noGrp="1"/>
          </p:cNvSpPr>
          <p:nvPr>
            <p:ph type="sldNum" sz="quarter" idx="11"/>
          </p:nvPr>
        </p:nvSpPr>
        <p:spPr>
          <a:noFill/>
        </p:spPr>
        <p:txBody>
          <a:bodyPr/>
          <a:lstStyle/>
          <a:p>
            <a:fld id="{74BF1F0F-2B09-46EE-859F-36D48AFE7FE3}" type="slidenum">
              <a:rPr lang="en-US" altLang="zh-CN"/>
            </a:fld>
            <a:endParaRPr lang="en-US" altLang="zh-CN"/>
          </a:p>
        </p:txBody>
      </p:sp>
      <p:sp>
        <p:nvSpPr>
          <p:cNvPr id="175109" name="Rectangle 2"/>
          <p:cNvSpPr>
            <a:spLocks noGrp="1" noChangeArrowheads="1"/>
          </p:cNvSpPr>
          <p:nvPr>
            <p:ph type="title"/>
          </p:nvPr>
        </p:nvSpPr>
        <p:spPr>
          <a:xfrm>
            <a:off x="533400" y="482470"/>
            <a:ext cx="8229600" cy="588963"/>
          </a:xfrm>
        </p:spPr>
        <p:txBody>
          <a:bodyPr/>
          <a:lstStyle/>
          <a:p>
            <a:pPr eaLnBrk="1" hangingPunct="1"/>
            <a:r>
              <a:rPr lang="en-US" altLang="zh-CN" sz="3600" dirty="0">
                <a:solidFill>
                  <a:schemeClr val="bg2"/>
                </a:solidFill>
                <a:latin typeface="Times New Roman" panose="02020603050405020304" pitchFamily="18" charset="0"/>
              </a:rPr>
              <a:t>Memory</a:t>
            </a:r>
            <a:r>
              <a:rPr lang="en-US" altLang="zh-CN" sz="3600" b="1" dirty="0">
                <a:solidFill>
                  <a:schemeClr val="folHlink"/>
                </a:solidFill>
              </a:rPr>
              <a:t> </a:t>
            </a:r>
            <a:endParaRPr lang="en-US" altLang="zh-CN" sz="3600" b="1" dirty="0">
              <a:solidFill>
                <a:schemeClr val="folHlink"/>
              </a:solidFill>
            </a:endParaRPr>
          </a:p>
        </p:txBody>
      </p:sp>
      <p:graphicFrame>
        <p:nvGraphicFramePr>
          <p:cNvPr id="5" name="Table 2"/>
          <p:cNvGraphicFramePr>
            <a:graphicFrameLocks noGrp="1"/>
          </p:cNvGraphicFramePr>
          <p:nvPr/>
        </p:nvGraphicFramePr>
        <p:xfrm>
          <a:off x="117848" y="1237245"/>
          <a:ext cx="8774632" cy="4107061"/>
        </p:xfrm>
        <a:graphic>
          <a:graphicData uri="http://schemas.openxmlformats.org/drawingml/2006/table">
            <a:tbl>
              <a:tblPr firstRow="1" bandRow="1">
                <a:tableStyleId>{5C22544A-7EE6-4342-B048-85BDC9FD1C3A}</a:tableStyleId>
              </a:tblPr>
              <a:tblGrid>
                <a:gridCol w="7742555"/>
                <a:gridCol w="1032077"/>
              </a:tblGrid>
              <a:tr h="285033">
                <a:tc>
                  <a:txBody>
                    <a:bodyPr/>
                    <a:lstStyle/>
                    <a:p>
                      <a:endParaRPr lang="en-GB" dirty="0"/>
                    </a:p>
                  </a:txBody>
                  <a:tcPr/>
                </a:tc>
                <a:tc>
                  <a:txBody>
                    <a:bodyPr/>
                    <a:lstStyle/>
                    <a:p>
                      <a:endParaRPr lang="en-GB" dirty="0"/>
                    </a:p>
                  </a:txBody>
                  <a:tcPr/>
                </a:tc>
              </a:tr>
              <a:tr h="71258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solidFill>
                            <a:schemeClr val="bg2"/>
                          </a:solidFill>
                          <a:latin typeface="Times New Roman" panose="02020603050405020304" pitchFamily="18" charset="0"/>
                        </a:rPr>
                        <a:t>The memory unit is an essential component in any digit computer, since it is needed for storing the programs that are executed by the CPU. People who like PCs, always talk about how large their storage device volumes are. </a:t>
                      </a:r>
                      <a:endParaRPr lang="en-US" altLang="zh-CN" sz="1800" dirty="0">
                        <a:solidFill>
                          <a:schemeClr val="bg2"/>
                        </a:solidFill>
                        <a:latin typeface="Times New Roman" panose="02020603050405020304" pitchFamily="18" charset="0"/>
                      </a:endParaRPr>
                    </a:p>
                  </a:txBody>
                  <a:tcPr/>
                </a:tc>
                <a:tc>
                  <a:txBody>
                    <a:bodyPr/>
                    <a:lstStyle/>
                    <a:p>
                      <a:endParaRPr lang="en-US" dirty="0"/>
                    </a:p>
                  </a:txBody>
                  <a:tcPr/>
                </a:tc>
              </a:tr>
              <a:tr h="948729">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solidFill>
                            <a:schemeClr val="bg2"/>
                          </a:solidFill>
                          <a:latin typeface="Times New Roman" panose="02020603050405020304" pitchFamily="18" charset="0"/>
                        </a:rPr>
                        <a:t>RAM and ROM play important roles of storage devices. RAM stand for Random Access Memory. ROM means Read Only Memory. The control and specialized programs are stored in ROM chips, and these programs can not be changed by users.</a:t>
                      </a:r>
                      <a:endParaRPr lang="en-US" altLang="zh-CN" sz="1800" dirty="0">
                        <a:solidFill>
                          <a:schemeClr val="bg2"/>
                        </a:solidFill>
                        <a:latin typeface="Times New Roman" panose="02020603050405020304" pitchFamily="18" charset="0"/>
                      </a:endParaRPr>
                    </a:p>
                  </a:txBody>
                  <a:tcPr/>
                </a:tc>
                <a:tc>
                  <a:txBody>
                    <a:bodyPr/>
                    <a:lstStyle/>
                    <a:p>
                      <a:endParaRPr lang="en-US" dirty="0"/>
                    </a:p>
                  </a:txBody>
                  <a:tcPr/>
                </a:tc>
              </a:tr>
              <a:tr h="163818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solidFill>
                            <a:schemeClr val="bg2"/>
                          </a:solidFill>
                          <a:latin typeface="Times New Roman" panose="02020603050405020304" pitchFamily="18" charset="0"/>
                        </a:rPr>
                        <a:t>Computer memory is measured in kilobytes (KB) or megabytes (MB) of information.</a:t>
                      </a:r>
                      <a:endParaRPr lang="en-US" altLang="zh-CN" sz="1800" dirty="0">
                        <a:solidFill>
                          <a:schemeClr val="bg2"/>
                        </a:solidFill>
                      </a:endParaRPr>
                    </a:p>
                    <a:p>
                      <a:endParaRPr lang="en-GB" dirty="0"/>
                    </a:p>
                  </a:txBody>
                  <a:tcPr/>
                </a:tc>
                <a:tc>
                  <a:txBody>
                    <a:bodyPr/>
                    <a:lstStyle/>
                    <a:p>
                      <a:endParaRPr lang="en-US" dirty="0"/>
                    </a:p>
                  </a:txBody>
                  <a:tcPr/>
                </a:tc>
              </a:tr>
            </a:tbl>
          </a:graphicData>
        </a:graphic>
      </p:graphicFrame>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100392" y="1287228"/>
            <a:ext cx="301028" cy="250857"/>
          </a:xfrm>
          <a:prstGeom prst="rect">
            <a:avLst/>
          </a:prstGeom>
        </p:spPr>
      </p:pic>
      <p:pic>
        <p:nvPicPr>
          <p:cNvPr id="2" name="Paragraph3">
            <a:hlinkClick r:id="" action="ppaction://media"/>
          </p:cNvPr>
          <p:cNvPicPr/>
          <p:nvPr>
            <a:audioFile r:link="rId2"/>
            <p:extLst>
              <p:ext uri="{DAA4B4D4-6D71-4841-9C94-3DE7FCFB9230}">
                <p14:media xmlns:p14="http://schemas.microsoft.com/office/powerpoint/2010/main" r:embed="rId3"/>
              </p:ext>
            </p:extLst>
          </p:nvPr>
        </p:nvPicPr>
        <p:blipFill>
          <a:blip r:embed="rId4"/>
          <a:stretch>
            <a:fillRect/>
          </a:stretch>
        </p:blipFill>
        <p:spPr>
          <a:xfrm>
            <a:off x="8100060" y="1844675"/>
            <a:ext cx="495300" cy="495300"/>
          </a:xfrm>
          <a:prstGeom prst="rect">
            <a:avLst/>
          </a:prstGeom>
        </p:spPr>
      </p:pic>
      <p:pic>
        <p:nvPicPr>
          <p:cNvPr id="3" name="Paragraph4">
            <a:hlinkClick r:id="" action="ppaction://media"/>
          </p:cNvPr>
          <p:cNvPicPr/>
          <p:nvPr>
            <a:audioFile r:link="rId5"/>
            <p:extLst>
              <p:ext uri="{DAA4B4D4-6D71-4841-9C94-3DE7FCFB9230}">
                <p14:media xmlns:p14="http://schemas.microsoft.com/office/powerpoint/2010/main" r:embed="rId6"/>
              </p:ext>
            </p:extLst>
          </p:nvPr>
        </p:nvPicPr>
        <p:blipFill>
          <a:blip r:embed="rId4"/>
          <a:stretch>
            <a:fillRect/>
          </a:stretch>
        </p:blipFill>
        <p:spPr>
          <a:xfrm>
            <a:off x="8100695" y="2853055"/>
            <a:ext cx="495300" cy="495300"/>
          </a:xfrm>
          <a:prstGeom prst="rect">
            <a:avLst/>
          </a:prstGeom>
        </p:spPr>
      </p:pic>
      <p:pic>
        <p:nvPicPr>
          <p:cNvPr id="4" name="Paragraph5">
            <a:hlinkClick r:id="" action="ppaction://media"/>
          </p:cNvPr>
          <p:cNvPicPr/>
          <p:nvPr>
            <a:audioFile r:link="rId7"/>
            <p:extLst>
              <p:ext uri="{DAA4B4D4-6D71-4841-9C94-3DE7FCFB9230}">
                <p14:media xmlns:p14="http://schemas.microsoft.com/office/powerpoint/2010/main" r:embed="rId8"/>
              </p:ext>
            </p:extLst>
          </p:nvPr>
        </p:nvPicPr>
        <p:blipFill>
          <a:blip r:embed="rId4"/>
          <a:stretch>
            <a:fillRect/>
          </a:stretch>
        </p:blipFill>
        <p:spPr>
          <a:xfrm>
            <a:off x="8100695" y="4077335"/>
            <a:ext cx="495300" cy="495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22293" fill="hold"/>
                                        <p:tgtEl>
                                          <p:spTgt spid="2"/>
                                        </p:tgtEl>
                                      </p:cBhvr>
                                    </p:cmd>
                                  </p:childTnLst>
                                </p:cTn>
                              </p:par>
                            </p:childTnLst>
                          </p:cTn>
                        </p:par>
                        <p:par>
                          <p:cTn id="7" fill="hold">
                            <p:stCondLst>
                              <p:cond delay="22500"/>
                            </p:stCondLst>
                            <p:childTnLst>
                              <p:par>
                                <p:cTn id="8" presetID="1" presetClass="mediacall" presetSubtype="0" fill="hold" nodeType="afterEffect">
                                  <p:stCondLst>
                                    <p:cond delay="0"/>
                                  </p:stCondLst>
                                  <p:childTnLst>
                                    <p:cmd type="call" cmd="playFrom(0.0)">
                                      <p:cBhvr additive="base">
                                        <p:cTn id="9" dur="25538" fill="hold"/>
                                        <p:tgtEl>
                                          <p:spTgt spid="3"/>
                                        </p:tgtEl>
                                      </p:cBhvr>
                                    </p:cmd>
                                  </p:childTnLst>
                                </p:cTn>
                              </p:par>
                            </p:childTnLst>
                          </p:cTn>
                        </p:par>
                        <p:par>
                          <p:cTn id="10" fill="hold">
                            <p:stCondLst>
                              <p:cond delay="48500"/>
                            </p:stCondLst>
                            <p:childTnLst>
                              <p:par>
                                <p:cTn id="11" presetID="1" presetClass="mediacall" presetSubtype="0" fill="hold" nodeType="afterEffect">
                                  <p:stCondLst>
                                    <p:cond delay="0"/>
                                  </p:stCondLst>
                                  <p:childTnLst>
                                    <p:cmd type="call" cmd="playFrom(0.0)">
                                      <p:cBhvr additive="base">
                                        <p:cTn id="12" dur="71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13" fill="hold" display="1">
                  <p:stCondLst>
                    <p:cond delay="indefinite"/>
                  </p:stCondLst>
                  <p:endCondLst>
                    <p:cond evt="onStopAudio">
                      <p:tgtEl>
                        <p:sldTgt/>
                      </p:tgtEl>
                    </p:cond>
                  </p:endCondLst>
                </p:cTn>
                <p:tgtEl>
                  <p:spTgt spid="2"/>
                </p:tgtEl>
              </p:cMediaNode>
            </p:audio>
            <p:audio>
              <p:cMediaNode>
                <p:cTn id="14" fill="hold" display="1">
                  <p:stCondLst>
                    <p:cond delay="indefinite"/>
                  </p:stCondLst>
                  <p:endCondLst>
                    <p:cond evt="onStopAudio">
                      <p:tgtEl>
                        <p:sldTgt/>
                      </p:tgtEl>
                    </p:cond>
                  </p:endCondLst>
                </p:cTn>
                <p:tgtEl>
                  <p:spTgt spid="3"/>
                </p:tgtEl>
              </p:cMediaNode>
            </p:audio>
            <p:audio>
              <p:cMediaNode>
                <p:cTn id="15" fill="hold" display="1">
                  <p:stCondLst>
                    <p:cond delay="indefinite"/>
                  </p:stCondLst>
                  <p:endCondLst>
                    <p:cond evt="onStopAudio">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57200"/>
          </a:xfrm>
        </p:spPr>
        <p:txBody>
          <a:bodyPr>
            <a:normAutofit fontScale="90000"/>
          </a:bodyPr>
          <a:lstStyle/>
          <a:p>
            <a:r>
              <a:rPr lang="en-MY" dirty="0"/>
              <a:t>Dictionary Exercise </a:t>
            </a:r>
            <a:r>
              <a:rPr lang="zh-CN" altLang="en-US" dirty="0"/>
              <a:t>字典练习</a:t>
            </a:r>
            <a:endParaRPr lang="en-GB" dirty="0"/>
          </a:p>
        </p:txBody>
      </p:sp>
      <p:sp>
        <p:nvSpPr>
          <p:cNvPr id="4" name="Slide Number Placeholder 3"/>
          <p:cNvSpPr>
            <a:spLocks noGrp="1"/>
          </p:cNvSpPr>
          <p:nvPr>
            <p:ph type="sldNum" sz="quarter" idx="11"/>
          </p:nvPr>
        </p:nvSpPr>
        <p:spPr/>
        <p:txBody>
          <a:bodyPr/>
          <a:lstStyle/>
          <a:p>
            <a:pPr>
              <a:defRPr/>
            </a:pPr>
            <a:fld id="{0BC6FA1B-3156-46B2-B667-4315EF3281D3}" type="slidenum">
              <a:rPr lang="en-US" altLang="zh-CN" smtClean="0"/>
            </a:fld>
            <a:endParaRPr lang="en-US" altLang="zh-CN"/>
          </a:p>
        </p:txBody>
      </p:sp>
      <p:graphicFrame>
        <p:nvGraphicFramePr>
          <p:cNvPr id="5" name="Table 5"/>
          <p:cNvGraphicFramePr>
            <a:graphicFrameLocks noGrp="1"/>
          </p:cNvGraphicFramePr>
          <p:nvPr/>
        </p:nvGraphicFramePr>
        <p:xfrm>
          <a:off x="251519" y="914400"/>
          <a:ext cx="8539395" cy="5807078"/>
        </p:xfrm>
        <a:graphic>
          <a:graphicData uri="http://schemas.openxmlformats.org/drawingml/2006/table">
            <a:tbl>
              <a:tblPr firstRow="1" bandRow="1">
                <a:tableStyleId>{5C22544A-7EE6-4342-B048-85BDC9FD1C3A}</a:tableStyleId>
              </a:tblPr>
              <a:tblGrid>
                <a:gridCol w="3168353"/>
                <a:gridCol w="1224136"/>
                <a:gridCol w="4146906"/>
              </a:tblGrid>
              <a:tr h="368571">
                <a:tc>
                  <a:txBody>
                    <a:bodyPr/>
                    <a:lstStyle/>
                    <a:p>
                      <a:r>
                        <a:rPr lang="en-MY" sz="1400" dirty="0"/>
                        <a:t>Word </a:t>
                      </a:r>
                      <a:r>
                        <a:rPr lang="zh-CN" altLang="en-US" sz="1400" dirty="0"/>
                        <a:t>单词</a:t>
                      </a:r>
                      <a:endParaRPr lang="en-GB" sz="1400" dirty="0"/>
                    </a:p>
                  </a:txBody>
                  <a:tcPr/>
                </a:tc>
                <a:tc>
                  <a:txBody>
                    <a:bodyPr/>
                    <a:lstStyle/>
                    <a:p>
                      <a:r>
                        <a:rPr lang="en-MY" sz="1400" dirty="0"/>
                        <a:t>English</a:t>
                      </a:r>
                      <a:endParaRPr lang="en-GB"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MY" sz="1400" dirty="0"/>
                        <a:t>Translation </a:t>
                      </a:r>
                      <a:r>
                        <a:rPr lang="zh-CN" altLang="en-US" sz="1400" dirty="0"/>
                        <a:t>翻译</a:t>
                      </a:r>
                      <a:endParaRPr lang="en-GB" sz="1400" dirty="0"/>
                    </a:p>
                  </a:txBody>
                  <a:tcPr/>
                </a:tc>
              </a:tr>
              <a:tr h="316871">
                <a:tc>
                  <a:txBody>
                    <a:bodyPr/>
                    <a:lstStyle/>
                    <a:p>
                      <a:r>
                        <a:rPr lang="en-GB" sz="1400" dirty="0"/>
                        <a:t>Computer</a:t>
                      </a:r>
                      <a:endParaRPr lang="en-GB" sz="1400" dirty="0"/>
                    </a:p>
                  </a:txBody>
                  <a:tcPr/>
                </a:tc>
                <a:tc>
                  <a:txBody>
                    <a:bodyPr/>
                    <a:lstStyle/>
                    <a:p>
                      <a:endParaRPr lang="en-GB" sz="1400" dirty="0"/>
                    </a:p>
                  </a:txBody>
                  <a:tcPr/>
                </a:tc>
                <a:tc>
                  <a:txBody>
                    <a:bodyPr/>
                    <a:lstStyle/>
                    <a:p>
                      <a:r>
                        <a:rPr lang="zh-CN" altLang="en-US" sz="1400" dirty="0"/>
                        <a:t>计算机</a:t>
                      </a:r>
                      <a:endParaRPr lang="en-GB" sz="1400" dirty="0"/>
                    </a:p>
                  </a:txBody>
                  <a:tcPr/>
                </a:tc>
              </a:tr>
              <a:tr h="316871">
                <a:tc>
                  <a:txBody>
                    <a:bodyPr/>
                    <a:lstStyle/>
                    <a:p>
                      <a:r>
                        <a:rPr lang="en-GB" sz="1400" dirty="0"/>
                        <a:t>Central Processing Unit (CPU)</a:t>
                      </a:r>
                      <a:endParaRPr lang="en-GB" sz="1400" dirty="0"/>
                    </a:p>
                  </a:txBody>
                  <a:tcPr/>
                </a:tc>
                <a:tc>
                  <a:txBody>
                    <a:bodyPr/>
                    <a:lstStyle/>
                    <a:p>
                      <a:endParaRPr lang="en-GB" sz="1400" dirty="0"/>
                    </a:p>
                  </a:txBody>
                  <a:tcPr/>
                </a:tc>
                <a:tc>
                  <a:txBody>
                    <a:bodyPr/>
                    <a:lstStyle/>
                    <a:p>
                      <a:r>
                        <a:rPr lang="zh-CN" altLang="en-US" sz="1400" dirty="0"/>
                        <a:t>中央处理器</a:t>
                      </a:r>
                      <a:endParaRPr lang="en-GB" sz="1400" dirty="0"/>
                    </a:p>
                  </a:txBody>
                  <a:tcPr/>
                </a:tc>
              </a:tr>
              <a:tr h="316871">
                <a:tc>
                  <a:txBody>
                    <a:bodyPr/>
                    <a:lstStyle/>
                    <a:p>
                      <a:r>
                        <a:rPr lang="en-GB" sz="1400" dirty="0"/>
                        <a:t>Control Unit (CU)</a:t>
                      </a:r>
                      <a:endParaRPr lang="en-GB" sz="1400" dirty="0"/>
                    </a:p>
                  </a:txBody>
                  <a:tcPr/>
                </a:tc>
                <a:tc>
                  <a:txBody>
                    <a:bodyPr/>
                    <a:lstStyle/>
                    <a:p>
                      <a:endParaRPr lang="en-GB" sz="1400" dirty="0"/>
                    </a:p>
                  </a:txBody>
                  <a:tcPr/>
                </a:tc>
                <a:tc>
                  <a:txBody>
                    <a:bodyPr/>
                    <a:lstStyle/>
                    <a:p>
                      <a:r>
                        <a:rPr lang="zh-CN" altLang="en-US" sz="1400" dirty="0"/>
                        <a:t>控制单元</a:t>
                      </a:r>
                      <a:endParaRPr lang="en-GB" sz="1400" dirty="0"/>
                    </a:p>
                  </a:txBody>
                  <a:tcPr/>
                </a:tc>
              </a:tr>
              <a:tr h="316871">
                <a:tc>
                  <a:txBody>
                    <a:bodyPr/>
                    <a:lstStyle/>
                    <a:p>
                      <a:r>
                        <a:rPr lang="en-GB" sz="1400" dirty="0"/>
                        <a:t>Arithmetic / Logic Unit (ALU)</a:t>
                      </a:r>
                      <a:endParaRPr lang="en-GB" sz="1400" dirty="0"/>
                    </a:p>
                  </a:txBody>
                  <a:tcPr/>
                </a:tc>
                <a:tc>
                  <a:txBody>
                    <a:bodyPr/>
                    <a:lstStyle/>
                    <a:p>
                      <a:endParaRPr lang="en-GB" sz="1400" dirty="0"/>
                    </a:p>
                  </a:txBody>
                  <a:tcPr/>
                </a:tc>
                <a:tc>
                  <a:txBody>
                    <a:bodyPr/>
                    <a:lstStyle/>
                    <a:p>
                      <a:r>
                        <a:rPr lang="zh-CN" altLang="en-US" sz="1400" dirty="0"/>
                        <a:t>算术逻辑单元</a:t>
                      </a:r>
                      <a:endParaRPr lang="en-GB" sz="1400" dirty="0"/>
                    </a:p>
                  </a:txBody>
                  <a:tcPr/>
                </a:tc>
              </a:tr>
              <a:tr h="316871">
                <a:tc>
                  <a:txBody>
                    <a:bodyPr/>
                    <a:lstStyle/>
                    <a:p>
                      <a:r>
                        <a:rPr lang="en-GB" sz="1400" dirty="0"/>
                        <a:t>Register</a:t>
                      </a:r>
                      <a:endParaRPr lang="en-GB" sz="1400" dirty="0"/>
                    </a:p>
                  </a:txBody>
                  <a:tcPr/>
                </a:tc>
                <a:tc>
                  <a:txBody>
                    <a:bodyPr/>
                    <a:lstStyle/>
                    <a:p>
                      <a:endParaRPr lang="en-GB" sz="1200" dirty="0"/>
                    </a:p>
                  </a:txBody>
                  <a:tcPr/>
                </a:tc>
                <a:tc>
                  <a:txBody>
                    <a:bodyPr/>
                    <a:lstStyle/>
                    <a:p>
                      <a:r>
                        <a:rPr lang="zh-CN" altLang="en-US" sz="1200" dirty="0"/>
                        <a:t>寄存器</a:t>
                      </a:r>
                      <a:endParaRPr lang="en-GB" sz="1200" dirty="0"/>
                    </a:p>
                  </a:txBody>
                  <a:tcPr/>
                </a:tc>
              </a:tr>
              <a:tr h="316871">
                <a:tc>
                  <a:txBody>
                    <a:bodyPr/>
                    <a:lstStyle/>
                    <a:p>
                      <a:r>
                        <a:rPr lang="en-GB" sz="1400" dirty="0"/>
                        <a:t>Execute Cycle</a:t>
                      </a:r>
                      <a:endParaRPr lang="en-GB" sz="1400" dirty="0"/>
                    </a:p>
                  </a:txBody>
                  <a:tcPr/>
                </a:tc>
                <a:tc>
                  <a:txBody>
                    <a:bodyPr/>
                    <a:lstStyle/>
                    <a:p>
                      <a:endParaRPr lang="en-GB" sz="1400" dirty="0"/>
                    </a:p>
                  </a:txBody>
                  <a:tcPr/>
                </a:tc>
                <a:tc>
                  <a:txBody>
                    <a:bodyPr/>
                    <a:lstStyle/>
                    <a:p>
                      <a:r>
                        <a:rPr lang="zh-CN" altLang="en-US" sz="1400" dirty="0"/>
                        <a:t>执行周期</a:t>
                      </a:r>
                      <a:endParaRPr lang="en-GB" sz="1400" dirty="0"/>
                    </a:p>
                  </a:txBody>
                  <a:tcPr/>
                </a:tc>
              </a:tr>
              <a:tr h="316871">
                <a:tc>
                  <a:txBody>
                    <a:bodyPr/>
                    <a:lstStyle/>
                    <a:p>
                      <a:r>
                        <a:rPr lang="en-GB" sz="1400" dirty="0"/>
                        <a:t>Processor</a:t>
                      </a:r>
                      <a:endParaRPr lang="en-GB" sz="1400" dirty="0"/>
                    </a:p>
                  </a:txBody>
                  <a:tcPr/>
                </a:tc>
                <a:tc>
                  <a:txBody>
                    <a:bodyPr/>
                    <a:lstStyle/>
                    <a:p>
                      <a:endParaRPr lang="en-GB" sz="1400" dirty="0"/>
                    </a:p>
                  </a:txBody>
                  <a:tcPr/>
                </a:tc>
                <a:tc>
                  <a:txBody>
                    <a:bodyPr/>
                    <a:lstStyle/>
                    <a:p>
                      <a:r>
                        <a:rPr lang="zh-CN" altLang="en-US" sz="1400" dirty="0"/>
                        <a:t>处理器</a:t>
                      </a:r>
                      <a:endParaRPr lang="en-GB" sz="1400" dirty="0"/>
                    </a:p>
                  </a:txBody>
                  <a:tcPr/>
                </a:tc>
              </a:tr>
              <a:tr h="316871">
                <a:tc>
                  <a:txBody>
                    <a:bodyPr/>
                    <a:lstStyle/>
                    <a:p>
                      <a:r>
                        <a:rPr lang="en-GB" sz="1400" dirty="0"/>
                        <a:t>Operations</a:t>
                      </a:r>
                      <a:endParaRPr lang="en-GB" sz="1400" dirty="0"/>
                    </a:p>
                  </a:txBody>
                  <a:tcPr/>
                </a:tc>
                <a:tc>
                  <a:txBody>
                    <a:bodyPr/>
                    <a:lstStyle/>
                    <a:p>
                      <a:endParaRPr lang="en-GB" sz="1400" dirty="0"/>
                    </a:p>
                  </a:txBody>
                  <a:tcPr/>
                </a:tc>
                <a:tc>
                  <a:txBody>
                    <a:bodyPr/>
                    <a:lstStyle/>
                    <a:p>
                      <a:r>
                        <a:rPr lang="zh-CN" altLang="en-US" sz="1400" dirty="0"/>
                        <a:t>运算</a:t>
                      </a:r>
                      <a:endParaRPr lang="en-GB" sz="1400" dirty="0"/>
                    </a:p>
                  </a:txBody>
                  <a:tcPr/>
                </a:tc>
              </a:tr>
              <a:tr h="316871">
                <a:tc>
                  <a:txBody>
                    <a:bodyPr/>
                    <a:lstStyle/>
                    <a:p>
                      <a:r>
                        <a:rPr lang="en-GB" sz="1400" dirty="0"/>
                        <a:t>Function</a:t>
                      </a:r>
                      <a:endParaRPr lang="en-GB" sz="1400" dirty="0"/>
                    </a:p>
                  </a:txBody>
                  <a:tcPr/>
                </a:tc>
                <a:tc>
                  <a:txBody>
                    <a:bodyPr/>
                    <a:lstStyle/>
                    <a:p>
                      <a:endParaRPr lang="en-GB" sz="1400" dirty="0"/>
                    </a:p>
                  </a:txBody>
                  <a:tcPr/>
                </a:tc>
                <a:tc>
                  <a:txBody>
                    <a:bodyPr/>
                    <a:lstStyle/>
                    <a:p>
                      <a:r>
                        <a:rPr lang="zh-CN" altLang="en-US" sz="1400" dirty="0"/>
                        <a:t>函数</a:t>
                      </a:r>
                      <a:endParaRPr lang="en-GB" sz="1400" dirty="0"/>
                    </a:p>
                  </a:txBody>
                  <a:tcPr/>
                </a:tc>
              </a:tr>
              <a:tr h="316871">
                <a:tc>
                  <a:txBody>
                    <a:bodyPr/>
                    <a:lstStyle/>
                    <a:p>
                      <a:r>
                        <a:rPr lang="en-GB" sz="1400" dirty="0"/>
                        <a:t>Data</a:t>
                      </a:r>
                      <a:endParaRPr lang="en-GB" sz="1400" dirty="0"/>
                    </a:p>
                  </a:txBody>
                  <a:tcPr/>
                </a:tc>
                <a:tc>
                  <a:txBody>
                    <a:bodyPr/>
                    <a:lstStyle/>
                    <a:p>
                      <a:endParaRPr lang="en-GB" sz="1400" dirty="0"/>
                    </a:p>
                  </a:txBody>
                  <a:tcPr/>
                </a:tc>
                <a:tc>
                  <a:txBody>
                    <a:bodyPr/>
                    <a:lstStyle/>
                    <a:p>
                      <a:r>
                        <a:rPr lang="zh-CN" altLang="en-US" sz="1400" dirty="0"/>
                        <a:t>数据</a:t>
                      </a:r>
                      <a:endParaRPr lang="en-GB" sz="1400" dirty="0"/>
                    </a:p>
                  </a:txBody>
                  <a:tcPr/>
                </a:tc>
              </a:tr>
              <a:tr h="316871">
                <a:tc>
                  <a:txBody>
                    <a:bodyPr/>
                    <a:lstStyle/>
                    <a:p>
                      <a:r>
                        <a:rPr lang="en-GB" sz="1400" dirty="0"/>
                        <a:t>Instruction</a:t>
                      </a:r>
                      <a:endParaRPr lang="en-GB" sz="1400" dirty="0"/>
                    </a:p>
                  </a:txBody>
                  <a:tcPr/>
                </a:tc>
                <a:tc>
                  <a:txBody>
                    <a:bodyPr/>
                    <a:lstStyle/>
                    <a:p>
                      <a:endParaRPr lang="en-GB" sz="1400" dirty="0"/>
                    </a:p>
                  </a:txBody>
                  <a:tcPr/>
                </a:tc>
                <a:tc>
                  <a:txBody>
                    <a:bodyPr/>
                    <a:lstStyle/>
                    <a:p>
                      <a:r>
                        <a:rPr lang="zh-CN" altLang="en-US" sz="1400" dirty="0"/>
                        <a:t>指令</a:t>
                      </a:r>
                      <a:endParaRPr lang="en-GB" sz="1400" dirty="0"/>
                    </a:p>
                  </a:txBody>
                  <a:tcPr/>
                </a:tc>
              </a:tr>
              <a:tr h="316871">
                <a:tc>
                  <a:txBody>
                    <a:bodyPr/>
                    <a:lstStyle/>
                    <a:p>
                      <a:r>
                        <a:rPr lang="en-GB" sz="1400" dirty="0"/>
                        <a:t>Memory Address</a:t>
                      </a:r>
                      <a:endParaRPr lang="en-GB" sz="1400" dirty="0"/>
                    </a:p>
                  </a:txBody>
                  <a:tcPr/>
                </a:tc>
                <a:tc>
                  <a:txBody>
                    <a:bodyPr/>
                    <a:lstStyle/>
                    <a:p>
                      <a:endParaRPr lang="en-GB" sz="1400" dirty="0"/>
                    </a:p>
                  </a:txBody>
                  <a:tcPr/>
                </a:tc>
                <a:tc>
                  <a:txBody>
                    <a:bodyPr/>
                    <a:lstStyle/>
                    <a:p>
                      <a:r>
                        <a:rPr lang="zh-CN" altLang="en-US" sz="1400" dirty="0"/>
                        <a:t>内存地址</a:t>
                      </a:r>
                      <a:endParaRPr lang="en-GB" sz="1400" dirty="0"/>
                    </a:p>
                  </a:txBody>
                  <a:tcPr/>
                </a:tc>
              </a:tr>
              <a:tr h="316871">
                <a:tc>
                  <a:txBody>
                    <a:bodyPr/>
                    <a:lstStyle/>
                    <a:p>
                      <a:r>
                        <a:rPr lang="en-GB" sz="1400" dirty="0"/>
                        <a:t>Binary Language</a:t>
                      </a:r>
                      <a:endParaRPr lang="en-GB" sz="1400" dirty="0"/>
                    </a:p>
                  </a:txBody>
                  <a:tcPr/>
                </a:tc>
                <a:tc>
                  <a:txBody>
                    <a:bodyPr/>
                    <a:lstStyle/>
                    <a:p>
                      <a:endParaRPr lang="en-GB" sz="1400" dirty="0"/>
                    </a:p>
                  </a:txBody>
                  <a:tcPr/>
                </a:tc>
                <a:tc>
                  <a:txBody>
                    <a:bodyPr/>
                    <a:lstStyle/>
                    <a:p>
                      <a:r>
                        <a:rPr lang="zh-CN" altLang="en-US" sz="1400" dirty="0"/>
                        <a:t>二进制语言</a:t>
                      </a:r>
                      <a:endParaRPr lang="en-GB" sz="1400" dirty="0"/>
                    </a:p>
                  </a:txBody>
                  <a:tcPr/>
                </a:tc>
              </a:tr>
              <a:tr h="316871">
                <a:tc>
                  <a:txBody>
                    <a:bodyPr/>
                    <a:lstStyle/>
                    <a:p>
                      <a:r>
                        <a:rPr lang="en-GB" sz="1400" dirty="0"/>
                        <a:t>Machine Language</a:t>
                      </a:r>
                      <a:endParaRPr lang="en-GB" sz="1400" dirty="0"/>
                    </a:p>
                  </a:txBody>
                  <a:tcPr/>
                </a:tc>
                <a:tc>
                  <a:txBody>
                    <a:bodyPr/>
                    <a:lstStyle/>
                    <a:p>
                      <a:endParaRPr lang="en-GB" sz="1400" dirty="0"/>
                    </a:p>
                  </a:txBody>
                  <a:tcPr/>
                </a:tc>
                <a:tc>
                  <a:txBody>
                    <a:bodyPr/>
                    <a:lstStyle/>
                    <a:p>
                      <a:r>
                        <a:rPr lang="zh-CN" altLang="en-US" sz="1400" dirty="0"/>
                        <a:t>机器语言</a:t>
                      </a:r>
                      <a:endParaRPr lang="en-GB" sz="1400" dirty="0"/>
                    </a:p>
                  </a:txBody>
                  <a:tcPr/>
                </a:tc>
              </a:tr>
              <a:tr h="316871">
                <a:tc>
                  <a:txBody>
                    <a:bodyPr/>
                    <a:lstStyle/>
                    <a:p>
                      <a:r>
                        <a:rPr lang="en-GB" sz="1400" dirty="0"/>
                        <a:t>Programming Language</a:t>
                      </a:r>
                      <a:endParaRPr lang="en-GB" sz="1400" dirty="0"/>
                    </a:p>
                  </a:txBody>
                  <a:tcPr/>
                </a:tc>
                <a:tc>
                  <a:txBody>
                    <a:bodyPr/>
                    <a:lstStyle/>
                    <a:p>
                      <a:endParaRPr lang="en-GB" sz="1400" dirty="0"/>
                    </a:p>
                  </a:txBody>
                  <a:tcPr/>
                </a:tc>
                <a:tc>
                  <a:txBody>
                    <a:bodyPr/>
                    <a:lstStyle/>
                    <a:p>
                      <a:r>
                        <a:rPr lang="zh-CN" altLang="en-US" sz="1400" dirty="0"/>
                        <a:t>编程语言</a:t>
                      </a:r>
                      <a:endParaRPr lang="en-GB" sz="1400" dirty="0"/>
                    </a:p>
                  </a:txBody>
                  <a:tcPr/>
                </a:tc>
              </a:tr>
              <a:tr h="316871">
                <a:tc>
                  <a:txBody>
                    <a:bodyPr/>
                    <a:lstStyle/>
                    <a:p>
                      <a:r>
                        <a:rPr lang="en-GB" sz="1400" dirty="0"/>
                        <a:t>High-Level Programming Language</a:t>
                      </a:r>
                      <a:endParaRPr lang="en-GB" sz="1400" dirty="0"/>
                    </a:p>
                  </a:txBody>
                  <a:tcPr/>
                </a:tc>
                <a:tc>
                  <a:txBody>
                    <a:bodyPr/>
                    <a:lstStyle/>
                    <a:p>
                      <a:endParaRPr lang="en-GB" sz="1400" dirty="0"/>
                    </a:p>
                  </a:txBody>
                  <a:tcPr/>
                </a:tc>
                <a:tc>
                  <a:txBody>
                    <a:bodyPr/>
                    <a:lstStyle/>
                    <a:p>
                      <a:r>
                        <a:rPr lang="zh-CN" altLang="en-US" sz="1400" dirty="0"/>
                        <a:t>高级编程语言</a:t>
                      </a:r>
                      <a:endParaRPr lang="en-GB" sz="1400" dirty="0"/>
                    </a:p>
                  </a:txBody>
                  <a:tcPr/>
                </a:tc>
              </a:tr>
              <a:tr h="368571">
                <a:tc>
                  <a:txBody>
                    <a:bodyPr/>
                    <a:lstStyle/>
                    <a:p>
                      <a:r>
                        <a:rPr lang="en-GB" sz="1400" dirty="0"/>
                        <a:t>JavaScript</a:t>
                      </a:r>
                      <a:endParaRPr lang="en-GB" sz="1400" dirty="0"/>
                    </a:p>
                  </a:txBody>
                  <a:tcPr/>
                </a:tc>
                <a:tc>
                  <a:txBody>
                    <a:bodyPr/>
                    <a:lstStyle/>
                    <a:p>
                      <a:endParaRPr lang="en-GB" sz="1400" dirty="0"/>
                    </a:p>
                  </a:txBody>
                  <a:tcPr/>
                </a:tc>
                <a:tc>
                  <a:txBody>
                    <a:bodyPr/>
                    <a:lstStyle/>
                    <a:p>
                      <a:r>
                        <a:rPr lang="zh-CN" altLang="en-US" sz="1400"/>
                        <a:t>脚本语言</a:t>
                      </a:r>
                      <a:endParaRPr lang="en-GB" sz="1400" dirty="0"/>
                    </a:p>
                  </a:txBody>
                  <a:tcPr/>
                </a:tc>
              </a:tr>
            </a:tbl>
          </a:graphicData>
        </a:graphic>
      </p:graphicFrame>
      <p:pic>
        <p:nvPicPr>
          <p:cNvPr id="6" name="Picture 5">
            <a:hlinkClick r:id="rId1" action="ppaction://hlinkfile"/>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9543" y="980728"/>
            <a:ext cx="301028" cy="250857"/>
          </a:xfrm>
          <a:prstGeom prst="rect">
            <a:avLst/>
          </a:prstGeom>
        </p:spPr>
      </p:pic>
      <p:pic>
        <p:nvPicPr>
          <p:cNvPr id="3" name="Paragraph6">
            <a:hlinkClick r:id="" action="ppaction://media"/>
          </p:cNvPr>
          <p:cNvPicPr/>
          <p:nvPr>
            <a:audioFile r:link="rId3"/>
            <p:extLst>
              <p:ext uri="{DAA4B4D4-6D71-4841-9C94-3DE7FCFB9230}">
                <p14:media xmlns:p14="http://schemas.microsoft.com/office/powerpoint/2010/main" r:embed="rId4"/>
              </p:ext>
            </p:extLst>
          </p:nvPr>
        </p:nvPicPr>
        <p:blipFill>
          <a:blip r:embed="rId5"/>
          <a:stretch>
            <a:fillRect/>
          </a:stretch>
        </p:blipFill>
        <p:spPr>
          <a:xfrm>
            <a:off x="3779520" y="2132965"/>
            <a:ext cx="495300" cy="495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2902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9525"/>
            <a:ext cx="8229600" cy="457200"/>
          </a:xfrm>
          <a:solidFill>
            <a:schemeClr val="bg1"/>
          </a:solidFill>
        </p:spPr>
        <p:txBody>
          <a:bodyPr>
            <a:normAutofit fontScale="90000"/>
          </a:bodyPr>
          <a:lstStyle/>
          <a:p>
            <a:r>
              <a:rPr lang="en-MY" dirty="0"/>
              <a:t>Dictionary Exercise </a:t>
            </a:r>
            <a:r>
              <a:rPr lang="zh-CN" altLang="en-US" dirty="0"/>
              <a:t>字典练习</a:t>
            </a:r>
            <a:endParaRPr lang="en-GB" dirty="0"/>
          </a:p>
        </p:txBody>
      </p:sp>
      <p:sp>
        <p:nvSpPr>
          <p:cNvPr id="4" name="Slide Number Placeholder 3"/>
          <p:cNvSpPr>
            <a:spLocks noGrp="1"/>
          </p:cNvSpPr>
          <p:nvPr>
            <p:ph type="sldNum" sz="quarter" idx="11"/>
          </p:nvPr>
        </p:nvSpPr>
        <p:spPr/>
        <p:txBody>
          <a:bodyPr/>
          <a:lstStyle/>
          <a:p>
            <a:pPr>
              <a:defRPr/>
            </a:pPr>
            <a:fld id="{0BC6FA1B-3156-46B2-B667-4315EF3281D3}" type="slidenum">
              <a:rPr lang="en-US" altLang="zh-CN" smtClean="0"/>
            </a:fld>
            <a:endParaRPr lang="en-US" altLang="zh-CN"/>
          </a:p>
        </p:txBody>
      </p:sp>
      <p:graphicFrame>
        <p:nvGraphicFramePr>
          <p:cNvPr id="5" name="Table 5"/>
          <p:cNvGraphicFramePr>
            <a:graphicFrameLocks noGrp="1"/>
          </p:cNvGraphicFramePr>
          <p:nvPr/>
        </p:nvGraphicFramePr>
        <p:xfrm>
          <a:off x="147405" y="613325"/>
          <a:ext cx="8539395" cy="6149078"/>
        </p:xfrm>
        <a:graphic>
          <a:graphicData uri="http://schemas.openxmlformats.org/drawingml/2006/table">
            <a:tbl>
              <a:tblPr firstRow="1" bandRow="1">
                <a:tableStyleId>{5C22544A-7EE6-4342-B048-85BDC9FD1C3A}</a:tableStyleId>
              </a:tblPr>
              <a:tblGrid>
                <a:gridCol w="3168353"/>
                <a:gridCol w="1224136"/>
                <a:gridCol w="4146906"/>
              </a:tblGrid>
              <a:tr h="282352">
                <a:tc>
                  <a:txBody>
                    <a:bodyPr/>
                    <a:lstStyle/>
                    <a:p>
                      <a:r>
                        <a:rPr lang="en-MY" sz="1400" dirty="0"/>
                        <a:t>Word </a:t>
                      </a:r>
                      <a:r>
                        <a:rPr lang="zh-CN" altLang="en-US" sz="1400" dirty="0"/>
                        <a:t>单词</a:t>
                      </a:r>
                      <a:endParaRPr lang="en-GB" sz="1400" dirty="0"/>
                    </a:p>
                  </a:txBody>
                  <a:tcPr/>
                </a:tc>
                <a:tc>
                  <a:txBody>
                    <a:bodyPr/>
                    <a:lstStyle/>
                    <a:p>
                      <a:r>
                        <a:rPr lang="en-MY" sz="1400" dirty="0"/>
                        <a:t>English</a:t>
                      </a:r>
                      <a:endParaRPr lang="en-GB"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MY" sz="1400" dirty="0"/>
                        <a:t>Translation </a:t>
                      </a:r>
                      <a:r>
                        <a:rPr lang="zh-CN" altLang="en-US" sz="1400" dirty="0"/>
                        <a:t>翻译</a:t>
                      </a:r>
                      <a:endParaRPr lang="en-GB" sz="1400" dirty="0"/>
                    </a:p>
                  </a:txBody>
                  <a:tcPr/>
                </a:tc>
              </a:tr>
              <a:tr h="295958">
                <a:tc>
                  <a:txBody>
                    <a:bodyPr/>
                    <a:lstStyle/>
                    <a:p>
                      <a:r>
                        <a:rPr lang="en-GB" sz="1400" dirty="0"/>
                        <a:t>Microcomputer</a:t>
                      </a:r>
                      <a:endParaRPr lang="en-GB" sz="1400" dirty="0"/>
                    </a:p>
                  </a:txBody>
                  <a:tcPr/>
                </a:tc>
                <a:tc>
                  <a:txBody>
                    <a:bodyPr/>
                    <a:lstStyle/>
                    <a:p>
                      <a:endParaRPr lang="en-GB" sz="1400" dirty="0"/>
                    </a:p>
                  </a:txBody>
                  <a:tcPr/>
                </a:tc>
                <a:tc>
                  <a:txBody>
                    <a:bodyPr/>
                    <a:lstStyle/>
                    <a:p>
                      <a:r>
                        <a:rPr lang="zh-CN" altLang="en-US" sz="1400" dirty="0"/>
                        <a:t>微型计算机</a:t>
                      </a:r>
                      <a:endParaRPr lang="en-GB" sz="1400" dirty="0"/>
                    </a:p>
                  </a:txBody>
                  <a:tcPr/>
                </a:tc>
              </a:tr>
              <a:tr h="295958">
                <a:tc>
                  <a:txBody>
                    <a:bodyPr/>
                    <a:lstStyle/>
                    <a:p>
                      <a:r>
                        <a:rPr lang="en-GB" sz="1400" dirty="0"/>
                        <a:t>Integrated Circuit </a:t>
                      </a:r>
                      <a:endParaRPr lang="en-GB" sz="1400" dirty="0"/>
                    </a:p>
                  </a:txBody>
                  <a:tcPr/>
                </a:tc>
                <a:tc>
                  <a:txBody>
                    <a:bodyPr/>
                    <a:lstStyle/>
                    <a:p>
                      <a:endParaRPr lang="en-GB" sz="1400" dirty="0"/>
                    </a:p>
                  </a:txBody>
                  <a:tcPr/>
                </a:tc>
                <a:tc>
                  <a:txBody>
                    <a:bodyPr/>
                    <a:lstStyle/>
                    <a:p>
                      <a:r>
                        <a:rPr lang="zh-CN" altLang="en-US" sz="1400" dirty="0"/>
                        <a:t>集成电路</a:t>
                      </a:r>
                      <a:endParaRPr lang="en-GB" sz="1400" dirty="0"/>
                    </a:p>
                  </a:txBody>
                  <a:tcPr/>
                </a:tc>
              </a:tr>
              <a:tr h="295958">
                <a:tc>
                  <a:txBody>
                    <a:bodyPr/>
                    <a:lstStyle/>
                    <a:p>
                      <a:r>
                        <a:rPr lang="en-GB" sz="1400" dirty="0"/>
                        <a:t>Chip</a:t>
                      </a:r>
                      <a:endParaRPr lang="en-GB" sz="1400" dirty="0"/>
                    </a:p>
                  </a:txBody>
                  <a:tcPr/>
                </a:tc>
                <a:tc>
                  <a:txBody>
                    <a:bodyPr/>
                    <a:lstStyle/>
                    <a:p>
                      <a:endParaRPr lang="en-GB" sz="1400" dirty="0"/>
                    </a:p>
                  </a:txBody>
                  <a:tcPr/>
                </a:tc>
                <a:tc>
                  <a:txBody>
                    <a:bodyPr/>
                    <a:lstStyle/>
                    <a:p>
                      <a:r>
                        <a:rPr lang="zh-CN" altLang="en-US" sz="1400" dirty="0"/>
                        <a:t>芯片</a:t>
                      </a:r>
                      <a:endParaRPr lang="en-GB" sz="1400" dirty="0"/>
                    </a:p>
                  </a:txBody>
                  <a:tcPr/>
                </a:tc>
              </a:tr>
              <a:tr h="295958">
                <a:tc>
                  <a:txBody>
                    <a:bodyPr/>
                    <a:lstStyle/>
                    <a:p>
                      <a:r>
                        <a:rPr lang="en-GB" sz="1400" dirty="0"/>
                        <a:t>Coordinates</a:t>
                      </a:r>
                      <a:endParaRPr lang="en-GB" sz="1400" dirty="0"/>
                    </a:p>
                  </a:txBody>
                  <a:tcPr/>
                </a:tc>
                <a:tc>
                  <a:txBody>
                    <a:bodyPr/>
                    <a:lstStyle/>
                    <a:p>
                      <a:endParaRPr lang="en-GB" sz="1400" dirty="0"/>
                    </a:p>
                  </a:txBody>
                  <a:tcPr/>
                </a:tc>
                <a:tc>
                  <a:txBody>
                    <a:bodyPr/>
                    <a:lstStyle/>
                    <a:p>
                      <a:r>
                        <a:rPr lang="zh-CN" altLang="en-US" sz="1400" dirty="0"/>
                        <a:t>坐标</a:t>
                      </a:r>
                      <a:endParaRPr lang="en-GB" sz="1400" dirty="0"/>
                    </a:p>
                  </a:txBody>
                  <a:tcPr/>
                </a:tc>
              </a:tr>
              <a:tr h="295958">
                <a:tc>
                  <a:txBody>
                    <a:bodyPr/>
                    <a:lstStyle/>
                    <a:p>
                      <a:r>
                        <a:rPr lang="en-GB" sz="1400" dirty="0"/>
                        <a:t>Determines</a:t>
                      </a:r>
                      <a:endParaRPr lang="en-GB" sz="1400" dirty="0"/>
                    </a:p>
                  </a:txBody>
                  <a:tcPr/>
                </a:tc>
                <a:tc>
                  <a:txBody>
                    <a:bodyPr/>
                    <a:lstStyle/>
                    <a:p>
                      <a:endParaRPr lang="en-GB" sz="1200" dirty="0"/>
                    </a:p>
                  </a:txBody>
                  <a:tcPr/>
                </a:tc>
                <a:tc>
                  <a:txBody>
                    <a:bodyPr/>
                    <a:lstStyle/>
                    <a:p>
                      <a:r>
                        <a:rPr lang="zh-CN" altLang="en-US" sz="1400" dirty="0"/>
                        <a:t>判定</a:t>
                      </a:r>
                      <a:endParaRPr lang="en-GB" sz="1400" dirty="0"/>
                    </a:p>
                  </a:txBody>
                  <a:tcPr/>
                </a:tc>
              </a:tr>
              <a:tr h="295958">
                <a:tc>
                  <a:txBody>
                    <a:bodyPr/>
                    <a:lstStyle/>
                    <a:p>
                      <a:r>
                        <a:rPr lang="en-GB" sz="1400" dirty="0"/>
                        <a:t>Retrieve</a:t>
                      </a:r>
                      <a:endParaRPr lang="en-GB" sz="1400" dirty="0"/>
                    </a:p>
                  </a:txBody>
                  <a:tcPr/>
                </a:tc>
                <a:tc>
                  <a:txBody>
                    <a:bodyPr/>
                    <a:lstStyle/>
                    <a:p>
                      <a:endParaRPr lang="en-GB" sz="1400" dirty="0"/>
                    </a:p>
                  </a:txBody>
                  <a:tcPr/>
                </a:tc>
                <a:tc>
                  <a:txBody>
                    <a:bodyPr/>
                    <a:lstStyle/>
                    <a:p>
                      <a:r>
                        <a:rPr lang="zh-CN" altLang="en-US" sz="1400" dirty="0"/>
                        <a:t>检索</a:t>
                      </a:r>
                      <a:endParaRPr lang="en-GB" sz="1400" dirty="0"/>
                    </a:p>
                  </a:txBody>
                  <a:tcPr/>
                </a:tc>
              </a:tr>
              <a:tr h="295958">
                <a:tc>
                  <a:txBody>
                    <a:bodyPr/>
                    <a:lstStyle/>
                    <a:p>
                      <a:r>
                        <a:rPr lang="en-GB" sz="1400" dirty="0"/>
                        <a:t>Store</a:t>
                      </a:r>
                      <a:endParaRPr lang="en-GB" sz="1400" dirty="0"/>
                    </a:p>
                  </a:txBody>
                  <a:tcPr/>
                </a:tc>
                <a:tc>
                  <a:txBody>
                    <a:bodyPr/>
                    <a:lstStyle/>
                    <a:p>
                      <a:endParaRPr lang="en-GB" sz="1400" dirty="0"/>
                    </a:p>
                  </a:txBody>
                  <a:tcPr/>
                </a:tc>
                <a:tc>
                  <a:txBody>
                    <a:bodyPr/>
                    <a:lstStyle/>
                    <a:p>
                      <a:r>
                        <a:rPr lang="zh-CN" altLang="en-US" sz="1400" dirty="0"/>
                        <a:t>存储</a:t>
                      </a:r>
                      <a:endParaRPr lang="en-GB" altLang="zh-CN" sz="1400" dirty="0"/>
                    </a:p>
                  </a:txBody>
                  <a:tcPr/>
                </a:tc>
              </a:tr>
              <a:tr h="295958">
                <a:tc>
                  <a:txBody>
                    <a:bodyPr/>
                    <a:lstStyle/>
                    <a:p>
                      <a:r>
                        <a:rPr lang="en-GB" sz="1400" dirty="0"/>
                        <a:t>Results</a:t>
                      </a:r>
                      <a:endParaRPr lang="en-GB" sz="1400" dirty="0"/>
                    </a:p>
                  </a:txBody>
                  <a:tcPr/>
                </a:tc>
                <a:tc>
                  <a:txBody>
                    <a:bodyPr/>
                    <a:lstStyle/>
                    <a:p>
                      <a:endParaRPr lang="en-GB" sz="1400" dirty="0"/>
                    </a:p>
                  </a:txBody>
                  <a:tcPr/>
                </a:tc>
                <a:tc>
                  <a:txBody>
                    <a:bodyPr/>
                    <a:lstStyle/>
                    <a:p>
                      <a:r>
                        <a:rPr lang="zh-CN" altLang="en-US" sz="1400" dirty="0"/>
                        <a:t>结果</a:t>
                      </a:r>
                      <a:endParaRPr lang="en-GB" sz="1400" dirty="0"/>
                    </a:p>
                  </a:txBody>
                  <a:tcPr/>
                </a:tc>
              </a:tr>
              <a:tr h="295958">
                <a:tc>
                  <a:txBody>
                    <a:bodyPr/>
                    <a:lstStyle/>
                    <a:p>
                      <a:r>
                        <a:rPr lang="en-GB" sz="1400" dirty="0"/>
                        <a:t>Define</a:t>
                      </a:r>
                      <a:endParaRPr lang="en-GB" sz="1400" dirty="0"/>
                    </a:p>
                  </a:txBody>
                  <a:tcPr/>
                </a:tc>
                <a:tc>
                  <a:txBody>
                    <a:bodyPr/>
                    <a:lstStyle/>
                    <a:p>
                      <a:endParaRPr lang="en-GB" sz="1400" dirty="0"/>
                    </a:p>
                  </a:txBody>
                  <a:tcPr/>
                </a:tc>
                <a:tc>
                  <a:txBody>
                    <a:bodyPr/>
                    <a:lstStyle/>
                    <a:p>
                      <a:r>
                        <a:rPr lang="zh-CN" altLang="en-US" sz="1400" dirty="0"/>
                        <a:t>定义</a:t>
                      </a:r>
                      <a:endParaRPr lang="en-GB" sz="1400" dirty="0"/>
                    </a:p>
                  </a:txBody>
                  <a:tcPr/>
                </a:tc>
              </a:tr>
              <a:tr h="295958">
                <a:tc>
                  <a:txBody>
                    <a:bodyPr/>
                    <a:lstStyle/>
                    <a:p>
                      <a:r>
                        <a:rPr lang="en-GB" sz="1400" dirty="0"/>
                        <a:t>Device</a:t>
                      </a:r>
                      <a:endParaRPr lang="en-GB" sz="1400" dirty="0"/>
                    </a:p>
                  </a:txBody>
                  <a:tcPr/>
                </a:tc>
                <a:tc>
                  <a:txBody>
                    <a:bodyPr/>
                    <a:lstStyle/>
                    <a:p>
                      <a:endParaRPr lang="en-GB" sz="1400" dirty="0"/>
                    </a:p>
                  </a:txBody>
                  <a:tcPr/>
                </a:tc>
                <a:tc>
                  <a:txBody>
                    <a:bodyPr/>
                    <a:lstStyle/>
                    <a:p>
                      <a:r>
                        <a:rPr lang="zh-CN" altLang="en-US" sz="1400" dirty="0"/>
                        <a:t>设备</a:t>
                      </a:r>
                      <a:endParaRPr lang="en-GB" sz="1400" dirty="0"/>
                    </a:p>
                  </a:txBody>
                  <a:tcPr/>
                </a:tc>
              </a:tr>
              <a:tr h="295958">
                <a:tc>
                  <a:txBody>
                    <a:bodyPr/>
                    <a:lstStyle/>
                    <a:p>
                      <a:r>
                        <a:rPr lang="en-GB" sz="1400" dirty="0"/>
                        <a:t>Information</a:t>
                      </a:r>
                      <a:endParaRPr lang="en-GB" sz="1400" dirty="0"/>
                    </a:p>
                  </a:txBody>
                  <a:tcPr/>
                </a:tc>
                <a:tc>
                  <a:txBody>
                    <a:bodyPr/>
                    <a:lstStyle/>
                    <a:p>
                      <a:endParaRPr lang="en-GB" sz="1400" dirty="0"/>
                    </a:p>
                  </a:txBody>
                  <a:tcPr/>
                </a:tc>
                <a:tc>
                  <a:txBody>
                    <a:bodyPr/>
                    <a:lstStyle/>
                    <a:p>
                      <a:r>
                        <a:rPr lang="zh-CN" altLang="en-US" sz="1400" dirty="0"/>
                        <a:t>信息</a:t>
                      </a:r>
                      <a:endParaRPr lang="en-GB" sz="1400" dirty="0"/>
                    </a:p>
                  </a:txBody>
                  <a:tcPr/>
                </a:tc>
              </a:tr>
              <a:tr h="295958">
                <a:tc>
                  <a:txBody>
                    <a:bodyPr/>
                    <a:lstStyle/>
                    <a:p>
                      <a:r>
                        <a:rPr lang="en-GB" sz="1400" dirty="0"/>
                        <a:t>Program</a:t>
                      </a:r>
                      <a:endParaRPr lang="en-GB" sz="1400" dirty="0"/>
                    </a:p>
                  </a:txBody>
                  <a:tcPr/>
                </a:tc>
                <a:tc>
                  <a:txBody>
                    <a:bodyPr/>
                    <a:lstStyle/>
                    <a:p>
                      <a:endParaRPr lang="en-GB" sz="1400" dirty="0"/>
                    </a:p>
                  </a:txBody>
                  <a:tcPr/>
                </a:tc>
                <a:tc>
                  <a:txBody>
                    <a:bodyPr/>
                    <a:lstStyle/>
                    <a:p>
                      <a:r>
                        <a:rPr lang="zh-CN" altLang="en-US" sz="1400" dirty="0"/>
                        <a:t>程序</a:t>
                      </a:r>
                      <a:endParaRPr lang="en-GB" sz="1400" dirty="0"/>
                    </a:p>
                  </a:txBody>
                  <a:tcPr/>
                </a:tc>
              </a:tr>
              <a:tr h="295958">
                <a:tc>
                  <a:txBody>
                    <a:bodyPr/>
                    <a:lstStyle/>
                    <a:p>
                      <a:r>
                        <a:rPr lang="en-GB" sz="1400" dirty="0"/>
                        <a:t>Arithmetic Operations</a:t>
                      </a:r>
                      <a:endParaRPr lang="en-GB" sz="1400" dirty="0"/>
                    </a:p>
                  </a:txBody>
                  <a:tcPr/>
                </a:tc>
                <a:tc>
                  <a:txBody>
                    <a:bodyPr/>
                    <a:lstStyle/>
                    <a:p>
                      <a:endParaRPr lang="en-GB" sz="1400" dirty="0"/>
                    </a:p>
                  </a:txBody>
                  <a:tcPr/>
                </a:tc>
                <a:tc>
                  <a:txBody>
                    <a:bodyPr/>
                    <a:lstStyle/>
                    <a:p>
                      <a:r>
                        <a:rPr lang="zh-CN" altLang="en-US" sz="1400" dirty="0"/>
                        <a:t>算术运算</a:t>
                      </a:r>
                      <a:endParaRPr lang="en-GB" sz="1400" dirty="0"/>
                    </a:p>
                  </a:txBody>
                  <a:tcPr/>
                </a:tc>
              </a:tr>
              <a:tr h="295958">
                <a:tc>
                  <a:txBody>
                    <a:bodyPr/>
                    <a:lstStyle/>
                    <a:p>
                      <a:r>
                        <a:rPr lang="en-GB" sz="1400" dirty="0"/>
                        <a:t>Addition (+)</a:t>
                      </a:r>
                      <a:endParaRPr lang="en-GB" sz="1400" dirty="0"/>
                    </a:p>
                  </a:txBody>
                  <a:tcPr/>
                </a:tc>
                <a:tc>
                  <a:txBody>
                    <a:bodyPr/>
                    <a:lstStyle/>
                    <a:p>
                      <a:endParaRPr lang="en-GB" sz="1400" dirty="0"/>
                    </a:p>
                  </a:txBody>
                  <a:tcPr/>
                </a:tc>
                <a:tc>
                  <a:txBody>
                    <a:bodyPr/>
                    <a:lstStyle/>
                    <a:p>
                      <a:r>
                        <a:rPr lang="zh-CN" altLang="en-US" sz="1400" dirty="0"/>
                        <a:t>加法</a:t>
                      </a:r>
                      <a:endParaRPr lang="en-GB" sz="1400" dirty="0"/>
                    </a:p>
                  </a:txBody>
                  <a:tcPr/>
                </a:tc>
              </a:tr>
              <a:tr h="295958">
                <a:tc>
                  <a:txBody>
                    <a:bodyPr/>
                    <a:lstStyle/>
                    <a:p>
                      <a:r>
                        <a:rPr lang="en-GB" sz="1400" dirty="0"/>
                        <a:t>Subtraction (-)</a:t>
                      </a:r>
                      <a:endParaRPr lang="en-GB" sz="1400" dirty="0"/>
                    </a:p>
                  </a:txBody>
                  <a:tcPr/>
                </a:tc>
                <a:tc>
                  <a:txBody>
                    <a:bodyPr/>
                    <a:lstStyle/>
                    <a:p>
                      <a:endParaRPr lang="en-GB" sz="1400" dirty="0"/>
                    </a:p>
                  </a:txBody>
                  <a:tcPr/>
                </a:tc>
                <a:tc>
                  <a:txBody>
                    <a:bodyPr/>
                    <a:lstStyle/>
                    <a:p>
                      <a:r>
                        <a:rPr lang="zh-CN" altLang="en-US" sz="1400" dirty="0"/>
                        <a:t>减法</a:t>
                      </a:r>
                      <a:endParaRPr lang="en-GB" sz="1400" dirty="0"/>
                    </a:p>
                  </a:txBody>
                  <a:tcPr/>
                </a:tc>
              </a:tr>
              <a:tr h="295958">
                <a:tc>
                  <a:txBody>
                    <a:bodyPr/>
                    <a:lstStyle/>
                    <a:p>
                      <a:r>
                        <a:rPr lang="en-GB" sz="1400" dirty="0"/>
                        <a:t>Multiplication (x)</a:t>
                      </a:r>
                      <a:endParaRPr lang="en-GB" sz="1400" dirty="0"/>
                    </a:p>
                  </a:txBody>
                  <a:tcPr/>
                </a:tc>
                <a:tc>
                  <a:txBody>
                    <a:bodyPr/>
                    <a:lstStyle/>
                    <a:p>
                      <a:endParaRPr lang="en-GB" sz="1400" dirty="0"/>
                    </a:p>
                  </a:txBody>
                  <a:tcPr/>
                </a:tc>
                <a:tc>
                  <a:txBody>
                    <a:bodyPr/>
                    <a:lstStyle/>
                    <a:p>
                      <a:r>
                        <a:rPr lang="zh-CN" altLang="en-US" sz="1400" dirty="0"/>
                        <a:t>乘法</a:t>
                      </a:r>
                      <a:endParaRPr lang="en-GB" sz="1400" dirty="0"/>
                    </a:p>
                  </a:txBody>
                  <a:tcPr/>
                </a:tc>
              </a:tr>
              <a:tr h="295958">
                <a:tc>
                  <a:txBody>
                    <a:bodyPr/>
                    <a:lstStyle/>
                    <a:p>
                      <a:r>
                        <a:rPr lang="en-GB" sz="1400" dirty="0"/>
                        <a:t>Division (÷)</a:t>
                      </a:r>
                      <a:endParaRPr lang="en-GB" sz="1400" dirty="0"/>
                    </a:p>
                  </a:txBody>
                  <a:tcPr/>
                </a:tc>
                <a:tc>
                  <a:txBody>
                    <a:bodyPr/>
                    <a:lstStyle/>
                    <a:p>
                      <a:endParaRPr lang="en-GB" sz="1400" dirty="0"/>
                    </a:p>
                  </a:txBody>
                  <a:tcPr/>
                </a:tc>
                <a:tc>
                  <a:txBody>
                    <a:bodyPr/>
                    <a:lstStyle/>
                    <a:p>
                      <a:r>
                        <a:rPr lang="zh-CN" altLang="en-US" sz="1400" dirty="0"/>
                        <a:t>除法</a:t>
                      </a:r>
                      <a:endParaRPr lang="en-GB" sz="1400" dirty="0"/>
                    </a:p>
                  </a:txBody>
                  <a:tcPr/>
                </a:tc>
              </a:tr>
              <a:tr h="295958">
                <a:tc>
                  <a:txBody>
                    <a:bodyPr/>
                    <a:lstStyle/>
                    <a:p>
                      <a:r>
                        <a:rPr lang="en-GB" sz="1400" dirty="0"/>
                        <a:t>Exponentiation (^) </a:t>
                      </a:r>
                      <a:endParaRPr lang="en-GB" sz="1400" dirty="0"/>
                    </a:p>
                  </a:txBody>
                  <a:tcPr/>
                </a:tc>
                <a:tc>
                  <a:txBody>
                    <a:bodyPr/>
                    <a:lstStyle/>
                    <a:p>
                      <a:endParaRPr lang="en-GB" sz="1400" dirty="0"/>
                    </a:p>
                  </a:txBody>
                  <a:tcPr/>
                </a:tc>
                <a:tc>
                  <a:txBody>
                    <a:bodyPr/>
                    <a:lstStyle/>
                    <a:p>
                      <a:r>
                        <a:rPr lang="zh-CN" altLang="en-US" sz="1400" dirty="0"/>
                        <a:t>幂运算 </a:t>
                      </a:r>
                      <a:endParaRPr lang="en-GB" sz="1400" dirty="0"/>
                    </a:p>
                  </a:txBody>
                  <a:tcPr/>
                </a:tc>
              </a:tr>
              <a:tr h="357878">
                <a:tc>
                  <a:txBody>
                    <a:bodyPr/>
                    <a:lstStyle/>
                    <a:p>
                      <a:r>
                        <a:rPr lang="en-GB" sz="1400" dirty="0"/>
                        <a:t>Storage Location</a:t>
                      </a:r>
                      <a:endParaRPr lang="en-GB" sz="1400" dirty="0"/>
                    </a:p>
                  </a:txBody>
                  <a:tcPr/>
                </a:tc>
                <a:tc>
                  <a:txBody>
                    <a:bodyPr/>
                    <a:lstStyle/>
                    <a:p>
                      <a:endParaRPr lang="en-GB" sz="1400" dirty="0"/>
                    </a:p>
                  </a:txBody>
                  <a:tcPr/>
                </a:tc>
                <a:tc>
                  <a:txBody>
                    <a:bodyPr/>
                    <a:lstStyle/>
                    <a:p>
                      <a:r>
                        <a:rPr lang="zh-CN" altLang="en-US" sz="1400" dirty="0"/>
                        <a:t>存储单元</a:t>
                      </a:r>
                      <a:endParaRPr lang="en-GB" sz="1400" dirty="0"/>
                    </a:p>
                  </a:txBody>
                  <a:tcPr/>
                </a:tc>
              </a:tr>
            </a:tbl>
          </a:graphicData>
        </a:graphic>
      </p:graphicFrame>
      <p:pic>
        <p:nvPicPr>
          <p:cNvPr id="6" name="Picture 5">
            <a:hlinkClick r:id="rId1" action="ppaction://hlinkfile"/>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7811" y="669826"/>
            <a:ext cx="301028" cy="250857"/>
          </a:xfrm>
          <a:prstGeom prst="rect">
            <a:avLst/>
          </a:prstGeom>
        </p:spPr>
      </p:pic>
      <p:pic>
        <p:nvPicPr>
          <p:cNvPr id="3" name="Paragraph7">
            <a:hlinkClick r:id="" action="ppaction://media"/>
          </p:cNvPr>
          <p:cNvPicPr/>
          <p:nvPr>
            <a:audioFile r:link="rId3"/>
            <p:extLst>
              <p:ext uri="{DAA4B4D4-6D71-4841-9C94-3DE7FCFB9230}">
                <p14:media xmlns:p14="http://schemas.microsoft.com/office/powerpoint/2010/main" r:embed="rId4"/>
              </p:ext>
            </p:extLst>
          </p:nvPr>
        </p:nvPicPr>
        <p:blipFill>
          <a:blip r:embed="rId5"/>
          <a:stretch>
            <a:fillRect/>
          </a:stretch>
        </p:blipFill>
        <p:spPr>
          <a:xfrm>
            <a:off x="3635375" y="2420620"/>
            <a:ext cx="495300" cy="495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3405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3"/>
                </p:tgtEl>
              </p:cMediaNode>
            </p:audio>
          </p:childTnLst>
        </p:cTn>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1967</Words>
  <Application>WPS 演示</Application>
  <PresentationFormat>全屏显示(4:3)</PresentationFormat>
  <Paragraphs>194</Paragraphs>
  <Slides>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Arial</vt:lpstr>
      <vt:lpstr>宋体</vt:lpstr>
      <vt:lpstr>Wingdings</vt:lpstr>
      <vt:lpstr>Arial Black</vt:lpstr>
      <vt:lpstr>Times New Roman</vt:lpstr>
      <vt:lpstr>微软雅黑</vt:lpstr>
      <vt:lpstr>Arial Unicode MS</vt:lpstr>
      <vt:lpstr>Pixel</vt:lpstr>
      <vt:lpstr>作业 Homework 1</vt:lpstr>
      <vt:lpstr>Central Processing Unit (CPU) </vt:lpstr>
      <vt:lpstr>Memory </vt:lpstr>
      <vt:lpstr>Dictionary Exercise 字典练习</vt:lpstr>
      <vt:lpstr>Dictionary Exercise 字典练习</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计算机专业英语 </dc:title>
  <dc:creator>微软用户</dc:creator>
  <cp:lastModifiedBy>Ricardo M.Lu</cp:lastModifiedBy>
  <cp:revision>123</cp:revision>
  <dcterms:created xsi:type="dcterms:W3CDTF">2011-06-26T02:47:00Z</dcterms:created>
  <dcterms:modified xsi:type="dcterms:W3CDTF">2026-04-08T14:25:07Z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1D7FCDE4D6594E69A6D872AA848D4E14_13</vt:lpwstr>
  </property>
</Properties>
</file>