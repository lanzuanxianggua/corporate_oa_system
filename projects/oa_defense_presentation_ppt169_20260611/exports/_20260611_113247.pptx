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各位评委老师好！我是XXX，今天很荣幸向各位汇报我的毕业设计项目——企业OA办公自动化系统。这是一个基于Spring Boot和Vue 3构建的企业级办公管理平台，面向200到5000人规模的企业，旨在将传统线下审批流程全面线上化，提升企业运营效率。接下来请允许我用15分钟时间，向各位展示这个项目的技术架构、核心功能和创新亮点。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介绍项目概述。本系统定位为面向中大型企业的办公自动化平台，覆盖8大业务域：行政、人事、财务、审批、协同、资产、知识和报表。核心价值在于减少线下审批和人工统计成本，实现办公流程的全面线上化。</a:t>
            </a:r>
          </a:p>
          <a:p>
            <a:endParaRPr lang="zh-CN" dirty="0"/>
          </a:p>
          <a:p>
            <a:r>
              <a:rPr lang="zh-CN" dirty="0"/>
              <a:t>系统的核心目标有四点：第一，业务模块职责清晰分明，便于维护扩展；第二，审批流程可配置，能灵活适配不同企业的需求；第三，权限可控、数据可追溯，保障企业信息安全；第四，接口统一，前端页面可快速扩展，支持未来的功能迭代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在技术选型方面，我们采用了业界主流的前后端分离架构。前端使用Vue 3的Composition API配合TypeScript，确保代码的类型安全；UI组件库选用Element Plus，构建工具使用Vite 5，显著提升了开发效率；状态管理采用Pinia，替代了传统的Vuex。</a:t>
            </a:r>
          </a:p>
          <a:p>
            <a:endParaRPr lang="zh-CN" dirty="0"/>
          </a:p>
          <a:p>
            <a:r>
              <a:rPr lang="zh-CN" dirty="0"/>
              <a:t>后端基于Java 17和Spring Boot 3.4构建，持久层使用MyBatis-Plus 3.5，简化了CRUD操作；数据库选用MySQL 8.0，缓存使用Redis 7。</a:t>
            </a:r>
          </a:p>
          <a:p>
            <a:endParaRPr lang="zh-CN" dirty="0"/>
          </a:p>
          <a:p>
            <a:r>
              <a:rPr lang="zh-CN" dirty="0"/>
              <a:t>基础设施方面，本地开发环境使用Docker Compose一键启动所有依赖服务；GitHub Actions实现CI/CD自动化；Flyway管理数据库版本，确保数据库迁移的可追溯性；MailHog用于本地邮件测试。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系统架构采用经典的三层架构设计。表现层使用Vue 3加Element Plus，负责前端UI展示；业务层是Spring Boot 3配合自研的工作流引擎，处理REST API、JWT认证和核心业务逻辑，所有接口响应统一封装为R泛型，并通过TraceID实现分布式追踪；数据层包含MySQL、Redis和Flyway，分别负责数据持久化、缓存和版本管理。</a:t>
            </a:r>
          </a:p>
          <a:p>
            <a:endParaRPr lang="zh-CN" dirty="0"/>
          </a:p>
          <a:p>
            <a:r>
              <a:rPr lang="zh-CN" dirty="0"/>
              <a:t>这种分层架构的优势在于职责清晰、易于测试和维护，同时为未来的微服务化改造预留了空间。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端采用Maven多模块设计，共18个模块。平台层包含common、security和web三个模块，提供统一响应、异常处理、JWT认证和应用启动能力。引擎层是我们自研的工作流引擎模块。业务层包含14个业务模块，从系统管理到人事、财务、行政等各个业务域。</a:t>
            </a:r>
          </a:p>
          <a:p>
            <a:endParaRPr lang="zh-CN" dirty="0"/>
          </a:p>
          <a:p>
            <a:r>
              <a:rPr lang="zh-CN" dirty="0"/>
              <a:t>设计原则是业务模块横向隔离，禁止横向依赖，跨模块通信统一走Spring Event，避免循环依赖。平台层和引擎层是所有业务模块的通用依赖，oa-platform-web作为唯一的启动模块，统一管理配置和Flyway脚本。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展示8大业务域的全景。系统管理域负责用户、角色、部门和权限的基础管理；行政管理域覆盖印章使用、资产管理和办公用品申领；文档管理域包含发文、收文、签报和文档归档；财务管理域实现预算、报销、借款、合同和付款的全流程管理。</a:t>
            </a:r>
          </a:p>
          <a:p>
            <a:endParaRPr lang="zh-CN" dirty="0"/>
          </a:p>
          <a:p>
            <a:r>
              <a:rPr lang="zh-CN" dirty="0"/>
              <a:t>人事管理域管理员工档案和入职离职；考勤请假域处理打卡签到、请假审批和加班调休，并自动管理年假额度；知识协同域提供知识库、会议管理和任务分配功能；消息报表域负责站内消息、邮件通知和数据报表生成。</a:t>
            </a:r>
          </a:p>
          <a:p>
            <a:endParaRPr lang="zh-CN" dirty="0"/>
          </a:p>
          <a:p>
            <a:r>
              <a:rPr lang="zh-CN" dirty="0"/>
              <a:t>这8大业务域相互独立又协同工作，共同构成了完整的企业办公自动化解决方案。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以请假审批为例，展示典型业务流程的技术实现。流程分为5步：员工提交请假申请，系统创建工作流实例，工作流引擎根据配置自动路由审批人，审批通过后系统扣减年假额度，最后发送消息通知相关人员。</a:t>
            </a:r>
          </a:p>
          <a:p>
            <a:endParaRPr lang="zh-CN" dirty="0"/>
          </a:p>
          <a:p>
            <a:r>
              <a:rPr lang="zh-CN" dirty="0"/>
              <a:t>技术实现的关键点有四个：第一，使用Spring Event解耦工作流与业务逻辑，工作流引擎发布事件，业务模块监听并处理；第二，审批路由支持条件表达式，可根据请假天数、报销金额或发起人层级动态选择审批人；第三，额度扣减使用数据库悲观锁，防止并发扣减导致的超额问题；第四，消息通知采用异步发送，支持站内信、邮件和钉钉多渠道推送。</a:t>
            </a:r>
          </a:p>
          <a:p>
            <a:endParaRPr lang="zh-CN" dirty="0"/>
          </a:p>
          <a:p>
            <a:r>
              <a:rPr lang="zh-CN" dirty="0"/>
              <a:t>这个流程展示了我们如何将复杂的业务逻辑拆解为清晰的技术实现，既保证了系统的可扩展性，又确保了数据的一致性。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核心功能亮点主要有五个方面。第一是统一审批抽象，无论是请假、报销、借款还是合同审批，都共享同一套工作流引擎，避免了重复开发。</a:t>
            </a:r>
          </a:p>
          <a:p>
            <a:endParaRPr lang="zh-CN" dirty="0"/>
          </a:p>
          <a:p>
            <a:r>
              <a:rPr lang="zh-CN" dirty="0"/>
              <a:t>第二是灵活的路由策略，支持固定审批人、按角色路由、部门主管路由，以及基于金额、天数、层级的条件路由，还支持会签、或签、委派和转交等复杂场景。</a:t>
            </a:r>
          </a:p>
          <a:p>
            <a:endParaRPr lang="zh-CN" dirty="0"/>
          </a:p>
          <a:p>
            <a:r>
              <a:rPr lang="zh-CN" dirty="0"/>
              <a:t>第三是实时消息推送，采用WebSocket作为主通道，轮询作为降级方案，保证消息必达，确保审批人能第一时间收到待办提醒。</a:t>
            </a:r>
          </a:p>
          <a:p>
            <a:endParaRPr lang="zh-CN" dirty="0"/>
          </a:p>
          <a:p>
            <a:r>
              <a:rPr lang="zh-CN" dirty="0"/>
              <a:t>第四是5级数据权限隔离，从本人、本部门、本部门及下级、全公司到全部数据，精细控制用户的数据访问范围。</a:t>
            </a:r>
          </a:p>
          <a:p>
            <a:endParaRPr lang="zh-CN" dirty="0"/>
          </a:p>
          <a:p>
            <a:r>
              <a:rPr lang="zh-CN" dirty="0"/>
              <a:t>第五是全链路追踪，每个请求都分配唯一的TraceID，贯穿整个调用链，出现问题时可以快速定位。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自研工作流引擎是本项目的核心技术创新。引擎基于4张核心表设计：流程定义表、流程实例表、任务表和任务委派表。流程从发起开始，依次经过创建实例、生成任务、审批处理、路由下一节点，最终完成或驳回。</a:t>
            </a:r>
          </a:p>
          <a:p>
            <a:endParaRPr lang="zh-CN" dirty="0"/>
          </a:p>
          <a:p>
            <a:r>
              <a:rPr lang="zh-CN" dirty="0"/>
              <a:t>引擎支持的特性包括：条件路由可以根据金额、天数、层级动态决策；会签要求所有审批人都同意才能通过，或签则任一审批人同意即可；任务可以委派给他人代办或直接转交；超时提醒和流程撤回功能也已实现。</a:t>
            </a:r>
          </a:p>
          <a:p>
            <a:endParaRPr lang="zh-CN" dirty="0"/>
          </a:p>
          <a:p>
            <a:r>
              <a:rPr lang="zh-CN" dirty="0"/>
              <a:t>特别值得一提的是4维分层路由机制：金额维度用于报销和借款的分级审批，天数维度用于请假的分级审批，层级维度根据发起人的职级匹配不同的审批链，工时维度用于加班申请的分级审批。这种设计使得一套引擎能够适配多种业务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工作流引擎的技术创新体现在三个方面。第一是图结构定义，采用schemaVersion 2的图格式，用nodes和edges描述流程拓扑，支持4维分层路由，比传统的线性流程定义更加灵活。</a:t>
            </a:r>
          </a:p>
          <a:p>
            <a:endParaRPr lang="zh-CN" dirty="0"/>
          </a:p>
          <a:p>
            <a:r>
              <a:rPr lang="zh-CN" dirty="0"/>
              <a:t>第二是业务回调解耦，工作流引擎通过Spring Event发布流程事件，业务模块监听事件并更新各自的业务表状态。这种设计使得工作流引擎完全不依赖任何业务代码，实现了真正的松耦合。</a:t>
            </a:r>
          </a:p>
          <a:p>
            <a:endParaRPr lang="zh-CN" dirty="0"/>
          </a:p>
          <a:p>
            <a:r>
              <a:rPr lang="zh-CN" dirty="0"/>
              <a:t>第三是动态路由算法，支持role_chain角色链路由、initiator_level_match发起人层级匹配，以及escalateTo超时升级路由。这些算法让审批流转更加智能和灵活。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为什么选择自研而不用开源的工作流引擎？这是个关键问题。开源方案主要有三个问题：Activiti和Flowable过于重量级，完整实现了BPMN 2.0规范，学习成本很高；Camunda的企业版功能强大但需要付费，社区版功能受限；所有通用引擎都需要大量适配代码才能对接业务，容易产生强耦合。</a:t>
            </a:r>
          </a:p>
          <a:p>
            <a:endParaRPr lang="zh-CN" dirty="0"/>
          </a:p>
          <a:p>
            <a:r>
              <a:rPr lang="zh-CN" dirty="0"/>
              <a:t>我们选择自研的优势非常明显：第一，轻量级设计，4张核心表即可运行，没有冗余功能；第二，完全掌控路由逻辑，扩展新的路由规则非常简单；第三，通过Spring Event与业务解耦，业务模块只需要监听事件，无需关心工作流内部实现；第四，学习成本低，团队可以快速上手；第五，无第三方依赖，部署和运维都很简单。</a:t>
            </a:r>
          </a:p>
          <a:p>
            <a:endParaRPr lang="zh-CN" dirty="0"/>
          </a:p>
          <a:p>
            <a:r>
              <a:rPr lang="zh-CN" dirty="0"/>
              <a:t>实践证明，这个自研引擎已经稳定支撑了8大业务域的所有审批流程。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库设计方面，我们使用Flyway进行版本管理。V100系列是平台基础表，包括用户、角色、部门、权限等；V200系列是工作流引擎的核心表；V900是基础种子数据；V910系列是平台升级和补丁；V930及以后是各业务模块的增量脚本。</a:t>
            </a:r>
          </a:p>
          <a:p>
            <a:endParaRPr lang="zh-CN" dirty="0"/>
          </a:p>
          <a:p>
            <a:r>
              <a:rPr lang="zh-CN" dirty="0"/>
              <a:t>设计规范严格遵循最佳实践：表名采用模块前缀加蛇形复数形式；主键统一使用Snowflake分布式ID；所有表都包含create_by、create_time、update_by、update_time四个审计字段，由MyBatis-Plus自动填充；逻辑删除字段del_flag使用字符串"0"和"1"；version字段支持乐观锁，防止并发更新冲突。</a:t>
            </a:r>
          </a:p>
          <a:p>
            <a:endParaRPr lang="zh-CN" dirty="0"/>
          </a:p>
          <a:p>
            <a:r>
              <a:rPr lang="zh-CN" dirty="0"/>
              <a:t>这套规范确保了数据库的可维护性和可追溯性。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前系统总计60多张业务表。平台层5张核心表管理用户、部门、角色和权限；工作流层4张表支撑整个审批引擎；人事层包含请假表、额度表、员工档案表和考勤表；财务层涵盖预算、报销、借款、合同和付款等表；行政层管理印章、资产和办公用品；文档层处理发文、收文和签报。</a:t>
            </a:r>
          </a:p>
          <a:p>
            <a:endParaRPr lang="zh-CN" dirty="0"/>
          </a:p>
          <a:p>
            <a:r>
              <a:rPr lang="zh-CN" dirty="0"/>
              <a:t>这个规模对于一个企业OA系统来说是合理的，既覆盖了核心业务，又没有过度设计。每张表的字段都经过仔细推敲，符合第三范式要求，同时也考虑了查询性能，在关键字段上建立了索引。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安全架构是系统的另一个技术亮点。我们没有使用Spring Security或Shiro，而是自研了一套安全框架。采用JWT的HS256算法进行Token认证，通过Servlet Filter和Spring Interceptor实现双层拦截，使用@RequirePermission注解进行权限控制，UserContext基于ThreadLocal存储当前登录用户信息。</a:t>
            </a:r>
          </a:p>
          <a:p>
            <a:endParaRPr lang="zh-CN" dirty="0"/>
          </a:p>
          <a:p>
            <a:r>
              <a:rPr lang="zh-CN" dirty="0"/>
              <a:t>为什么不用Spring Security？主要有三个原因：第一，Spring Security的配置和学习曲线非常陡峭，对于我们的需求来说过于复杂；第二，Spring Security容易与其他拦截器产生依赖注入的循环引用问题；第三，自研方案让我们完全掌控认证流程，出现问题时调试和排查都更加直接。</a:t>
            </a:r>
          </a:p>
          <a:p>
            <a:endParaRPr lang="zh-CN" dirty="0"/>
          </a:p>
          <a:p>
            <a:r>
              <a:rPr lang="zh-CN" dirty="0"/>
              <a:t>实践证明，这套自研的安全框架既简单又强大，完全满足了企业OA系统的安全需求。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权限体系分为功能权限和数据权限两个维度。功能权限采用经典的RBAC模型，权限码格式为"模块:资源:操作"，例如"hr-leave:leave:create"表示人事模块的请假创建权限。角色关联权限，用户关联角色，支持权限继承和组合，灵活性很高。</a:t>
            </a:r>
          </a:p>
          <a:p>
            <a:endParaRPr lang="zh-CN" dirty="0"/>
          </a:p>
          <a:p>
            <a:r>
              <a:rPr lang="zh-CN" dirty="0"/>
              <a:t>数据权限细分为5个级别：SELF级别只能看到本人的数据，DEPT级别可以看到本部门的数据，DEPT_DOWN级别可以看到本部门及下级部门的数据，COMPANY级别可以看到全公司的数据，ALL级别可以看到全部数据。这种分级设计满足了不同岗位的数据访问需求。</a:t>
            </a:r>
          </a:p>
          <a:p>
            <a:endParaRPr lang="zh-CN" dirty="0"/>
          </a:p>
          <a:p>
            <a:r>
              <a:rPr lang="zh-CN" dirty="0"/>
              <a:t>安全加固方面，我们使用Druid连接池自带的SQL防注入功能，实现了XSS过滤和CSRF Token保护，并配置了慢SQL审计，及时发现性能问题。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项目的技术亮点可以总结为4个方面。第一是自研工作流引擎，轻量级设计配合4维分层路由，实现了业务与流程的完全解耦。</a:t>
            </a:r>
          </a:p>
          <a:p>
            <a:endParaRPr lang="zh-CN" dirty="0"/>
          </a:p>
          <a:p>
            <a:r>
              <a:rPr lang="zh-CN" dirty="0"/>
              <a:t>第二是统一审批抽象，所有需要审批的业务都共享同一套流程引擎，避免了代码重复，降低了维护成本。</a:t>
            </a:r>
          </a:p>
          <a:p>
            <a:endParaRPr lang="zh-CN" dirty="0"/>
          </a:p>
          <a:p>
            <a:r>
              <a:rPr lang="zh-CN" dirty="0"/>
              <a:t>第三是自研安全框架，使用JWT加自研拦截器，避免了Spring Security的复杂性，让系统更加轻量和可控。</a:t>
            </a:r>
          </a:p>
          <a:p>
            <a:endParaRPr lang="zh-CN" dirty="0"/>
          </a:p>
          <a:p>
            <a:r>
              <a:rPr lang="zh-CN" dirty="0"/>
              <a:t>第四是Maven多模块架构，18个模块各司其职，横向隔离，通过Spring Event通信，既保证了模块的独立性，又实现了系统的整体协同。</a:t>
            </a:r>
          </a:p>
          <a:p>
            <a:endParaRPr lang="zh-CN" dirty="0"/>
          </a:p>
          <a:p>
            <a:r>
              <a:rPr lang="zh-CN" dirty="0"/>
              <a:t>这些技术亮点不仅展示了我对企业级应用架构的理解，也体现了我在实际开发中解决问题的能力。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工程实践方面，我们严格遵循了一系列开发规范。统一响应封装R泛型，所有API返回格式保持一致；分布式TraceID贯穿整个调用链，便于问题追踪；Snowflake主键和审计字段由MyBatis-Plus自动填充，减少了手动维护的工作量；MapStruct用于对象映射，避免了繁琐的set/get代码。</a:t>
            </a:r>
          </a:p>
          <a:p>
            <a:endParaRPr lang="zh-CN" dirty="0"/>
          </a:p>
          <a:p>
            <a:r>
              <a:rPr lang="zh-CN" dirty="0"/>
              <a:t>质量保障措施包括：Flyway管理数据库版本，每次迁移都可追溯；GitHub Actions实现CI/CD自动化，每次提交都会触发编译、测试和部署流水线；Spotless自动格式化代码，保持代码风格统一；Checkstyle进行静态检查，及时发现潜在问题；编写了单元测试和集成测试，覆盖核心业务逻辑。</a:t>
            </a:r>
          </a:p>
          <a:p>
            <a:endParaRPr lang="zh-CN" dirty="0"/>
          </a:p>
          <a:p>
            <a:r>
              <a:rPr lang="zh-CN" dirty="0"/>
              <a:t>这些工程实践保证了项目的可维护性和代码质量。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系统规模方面，后端Java代码超过8000行，前端TypeScript代码超过6000行，数据库包含60多张业务表，REST API超过100个接口。</a:t>
            </a:r>
          </a:p>
          <a:p>
            <a:endParaRPr lang="zh-CN" dirty="0"/>
          </a:p>
          <a:p>
            <a:r>
              <a:rPr lang="zh-CN" dirty="0"/>
              <a:t>功能完成度很高：8大业务域的核心功能已经完成，工作流引擎的核心功能完整，请假从提交到审批再到扣减额度的全链路已经打通，前后端完全对接，接口文档完整。</a:t>
            </a:r>
          </a:p>
          <a:p>
            <a:endParaRPr lang="zh-CN" dirty="0"/>
          </a:p>
          <a:p>
            <a:r>
              <a:rPr lang="zh-CN" dirty="0"/>
              <a:t>测试覆盖方面，单元测试覆盖了核心业务逻辑，CI/CD流水线实现了自动化测试，本地开发环境完整可运行，通过Docker Compose一键启动所有依赖服务。</a:t>
            </a:r>
          </a:p>
          <a:p>
            <a:endParaRPr lang="zh-CN" dirty="0"/>
          </a:p>
          <a:p>
            <a:r>
              <a:rPr lang="zh-CN" dirty="0"/>
              <a:t>这个规模和完成度对于一个毕业设计项目来说是比较扎实的，展示了我从需求分析、架构设计到编码实现的全栈能力。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工作台是用户登录后看到的首页。待办任务中心展示所有需要当前用户处理的审批任务；快捷入口提供了发起请假、报销、借款等常用功能的快速访问；最近访问记录显示用户最近操作的业务单据；消息通知实时推送审批结果和系统通知；数据统计看板展示各业务域的关键指标。</a:t>
            </a:r>
          </a:p>
          <a:p>
            <a:endParaRPr lang="zh-CN" dirty="0"/>
          </a:p>
          <a:p>
            <a:r>
              <a:rPr lang="zh-CN" dirty="0"/>
              <a:t>技术实现上，前端使用Vue 3的Composition API组织代码，Element Plus提供UI组件，Echarts绘制数据图表，所有数据通过REST API从后端获取，支持实时刷新。</a:t>
            </a:r>
          </a:p>
          <a:p>
            <a:endParaRPr lang="zh-CN" dirty="0"/>
          </a:p>
          <a:p>
            <a:r>
              <a:rPr lang="zh-CN" dirty="0"/>
              <a:t>这个工作台的设计参考了钉钉和企业微信等成熟产品，力求简洁高效，让用户能快速找到需要的功能。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审批流程演示展示了从请假申请到审批完成的全过程。流程进度可视化，用户可以清楚地看到当前流程走到了哪一步，谁已经审批，谁还在待办。</a:t>
            </a:r>
          </a:p>
          <a:p>
            <a:endParaRPr lang="zh-CN" dirty="0"/>
          </a:p>
          <a:p>
            <a:r>
              <a:rPr lang="zh-CN" dirty="0"/>
              <a:t>审批意见填写支持富文本，审批人可以详细说明同意或驳回的理由。任务委派和转交功能允许审批人临时将任务交给他人处理。流程撤回功能让发起人在审批未完成时可以撤销申请。消息实时推送确保审批人第一时间收到待办提醒。</a:t>
            </a:r>
          </a:p>
          <a:p>
            <a:endParaRPr lang="zh-CN" dirty="0"/>
          </a:p>
          <a:p>
            <a:r>
              <a:rPr lang="zh-CN" dirty="0"/>
              <a:t>这个演示页面展示了系统的核心交互流程，也是用户使用频率最高的功能模块。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项目总结。完成成果方面，我构建了一个完整的企业OA办公自动化系统，覆盖8大业务域，包含60多张业务表，自研了工作流引擎，实现了100多个REST API接口。</a:t>
            </a:r>
          </a:p>
          <a:p>
            <a:endParaRPr lang="zh-CN" dirty="0"/>
          </a:p>
          <a:p>
            <a:r>
              <a:rPr lang="zh-CN" dirty="0"/>
              <a:t>技术收获非常丰富：第一，深入理解了企业级应用的架构设计，包括分层架构、模块化设计和松耦合原则；第二，掌握了Spring Boot和Vue 3的全栈开发技术栈；第三，实践了Maven多模块项目管理，理解了大型项目的组织方式；第四，学习了工作流引擎的设计思想，从零实现了一个轻量级的工作流引擎；第五，积累了CI/CD自动化的实践经验，理解了DevOps的核心理念。</a:t>
            </a:r>
          </a:p>
          <a:p>
            <a:endParaRPr lang="zh-CN" dirty="0"/>
          </a:p>
          <a:p>
            <a:r>
              <a:rPr lang="zh-CN" dirty="0"/>
              <a:t>这个项目不仅让我巩固了所学知识，更让我体会到了将理论转化为实践的过程，为未来的职业发展打下了坚实的基础。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未来展望分为功能扩展和技术优化两个方向。</a:t>
            </a:r>
          </a:p>
          <a:p>
            <a:endParaRPr lang="zh-CN" dirty="0"/>
          </a:p>
          <a:p>
            <a:r>
              <a:rPr lang="zh-CN" dirty="0"/>
              <a:t>功能扩展方面：第一，开发移动端H5页面或原生App，让用户可以在手机上处理审批；第二，引入BI数据分析看板，为管理层提供决策支持；第三，开发流程设计器的可视化配置界面，让非技术人员也能配置审批流程；第四，考虑多租户SaaS模式，让系统可以服务于多个企业。</a:t>
            </a:r>
          </a:p>
          <a:p>
            <a:endParaRPr lang="zh-CN" dirty="0"/>
          </a:p>
          <a:p>
            <a:r>
              <a:rPr lang="zh-CN" dirty="0"/>
              <a:t>技术优化方向：第一，引入Redis缓存，提升系统性能，减少数据库压力；第二，集成ElasticSearch，实现全文检索，提升搜索体验；第三，引入消息队列进行异步解耦，提高系统的并发处理能力；第四，如果业务规模继续扩大，可以考虑微服务化拆分，但目前的单体架构已经足够支撑中等规模企业的需求。</a:t>
            </a:r>
          </a:p>
          <a:p>
            <a:endParaRPr lang="zh-CN" dirty="0"/>
          </a:p>
          <a:p>
            <a:r>
              <a:rPr lang="zh-CN" dirty="0"/>
              <a:t>最后，再次感谢各位评委老师的聆听与指导！我的汇报完毕，请各位老师批评指正！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47A1"/>
              </a:gs>
              <a:gs pos="50000">
                <a:srgbClr val="1565C0"/>
              </a:gs>
              <a:gs pos="100000">
                <a:srgbClr val="1976D2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CAF50">
                  <a:alpha val="30000"/>
                </a:srgbClr>
              </a:gs>
              <a:gs pos="100000">
                <a:srgbClr val="4CAF5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6B35">
                  <a:alpha val="20000"/>
                </a:srgbClr>
              </a:gs>
              <a:gs pos="100000">
                <a:srgbClr val="FF6B3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476250" y="476250"/>
            <a:ext cx="10953750" cy="5791200"/>
            <a:chOff x="476250" y="476250"/>
            <a:chExt cx="10953750" cy="5791200"/>
          </a:xfrm>
        </p:grpSpPr>
        <p:sp>
          <p:nvSpPr>
            <p:cNvPr id="5" name="Ellipse 5"/>
            <p:cNvSpPr/>
            <p:nvPr/>
          </p:nvSpPr>
          <p:spPr>
            <a:xfrm>
              <a:off x="666750" y="666750"/>
              <a:ext cx="1524000" cy="1524000"/>
            </a:xfrm>
            <a:prstGeom prst="ellipse">
              <a:avLst/>
            </a:prstGeom>
            <a:noFill/>
            <a:ln w="19050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476250" y="476250"/>
              <a:ext cx="1905000" cy="1905000"/>
            </a:xfrm>
            <a:prstGeom prst="ellipse">
              <a:avLst/>
            </a:prstGeom>
            <a:noFill/>
            <a:ln w="9525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0001250" y="4762500"/>
              <a:ext cx="1428750" cy="1428750"/>
            </a:xfrm>
            <a:prstGeom prst="roundRect">
              <a:avLst>
                <a:gd name="adj" fmla="val 13333"/>
              </a:avLst>
            </a:prstGeom>
            <a:noFill/>
            <a:ln w="19050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905000" y="5715000"/>
              <a:ext cx="1428750" cy="476250"/>
            </a:xfrm>
            <a:custGeom>
              <a:avLst/>
              <a:gdLst/>
              <a:ahLst/>
              <a:cxnLst/>
              <a:rect l="l" t="t" r="r" b="b"/>
              <a:pathLst>
                <a:path w="1428750" h="476250">
                  <a:moveTo>
                    <a:pt x="0" y="0"/>
                  </a:moveTo>
                  <a:lnTo>
                    <a:pt x="1428750" y="476250"/>
                  </a:lnTo>
                </a:path>
              </a:pathLst>
            </a:custGeom>
            <a:noFill/>
            <a:ln w="19050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3257550" y="6115050"/>
              <a:ext cx="152400" cy="152400"/>
            </a:xfrm>
            <a:prstGeom prst="ellipse">
              <a:avLst/>
            </a:prstGeom>
            <a:solidFill>
              <a:srgbClr val="4CAF50">
                <a:alpha val="10000"/>
              </a:srgbClr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673966" y="1861185"/>
            <a:ext cx="8844067" cy="1577340"/>
            <a:chOff x="1673966" y="1861185"/>
            <a:chExt cx="8844067" cy="1577340"/>
          </a:xfrm>
        </p:grpSpPr>
        <p:sp>
          <p:nvSpPr>
            <p:cNvPr id="11" name="TextBox 11"/>
            <p:cNvSpPr txBox="1"/>
            <p:nvPr/>
          </p:nvSpPr>
          <p:spPr>
            <a:xfrm>
              <a:off x="1673966" y="1861185"/>
              <a:ext cx="8844067" cy="1158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7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企业 OA 办公自动化系统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191000" y="2667000"/>
              <a:ext cx="3810000" cy="38100"/>
            </a:xfrm>
            <a:prstGeom prst="roundRect">
              <a:avLst>
                <a:gd name="adj" fmla="val 50000"/>
              </a:avLst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897934" y="3011805"/>
              <a:ext cx="639613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E3F2FD">
                      <a:alphaMod val="95000"/>
                    </a:srgbClr>
                  </a:solidFill>
                  <a:latin typeface="Segoe UI"/>
                  <a:ea typeface="Microsoft YaHei"/>
                  <a:cs typeface="Segoe UI"/>
                </a:rPr>
                <a:t>基于 Spring Boot 3 + Vue 3 的企业级办公管理平台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714750" y="4000500"/>
            <a:ext cx="4762500" cy="1905000"/>
            <a:chOff x="3714750" y="4000500"/>
            <a:chExt cx="4762500" cy="1905000"/>
          </a:xfrm>
        </p:grpSpPr>
        <p:sp>
          <p:nvSpPr>
            <p:cNvPr id="15" name="Rectangle 15"/>
            <p:cNvSpPr/>
            <p:nvPr/>
          </p:nvSpPr>
          <p:spPr>
            <a:xfrm>
              <a:off x="3714750" y="4000500"/>
              <a:ext cx="4762500" cy="1905000"/>
            </a:xfrm>
            <a:prstGeom prst="roundRect">
              <a:avLst>
                <a:gd name="adj" fmla="val 8000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3714750" y="4000500"/>
              <a:ext cx="4762500" cy="1905000"/>
            </a:xfrm>
            <a:prstGeom prst="roundRect">
              <a:avLst>
                <a:gd name="adj" fmla="val 8000"/>
              </a:avLst>
            </a:prstGeom>
            <a:noFill/>
            <a:ln w="9525">
              <a:solidFill>
                <a:srgbClr val="FFFFFF">
                  <a:alpha val="30000"/>
                </a:srgbClr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4667250" y="4362450"/>
              <a:ext cx="2857500" cy="1352550"/>
              <a:chOff x="4667250" y="4362450"/>
              <a:chExt cx="2857500" cy="1352550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5366861" y="4362450"/>
                <a:ext cx="145827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E3F2FD">
                        <a:alphaMod val="9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答辩人：[姓名]</a:t>
                </a:r>
              </a:p>
            </p:txBody>
          </p:sp>
          <p:sp>
            <p:nvSpPr>
              <p:cNvPr id="18" name="Line 18"/>
              <p:cNvSpPr/>
              <p:nvPr/>
            </p:nvSpPr>
            <p:spPr>
              <a:xfrm>
                <a:off x="4667250" y="4714875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rgbClr val="FFFFFF">
                    <a:alpha val="18000"/>
                  </a:srgbClr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5066824" y="4886325"/>
                <a:ext cx="2058353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E3F2FD">
                        <a:alphaMod val="9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指导老师：[教师姓名]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4667250" y="5238750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rgbClr val="FFFFFF">
                    <a:alpha val="18000"/>
                  </a:srgbClr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5011817" y="5410200"/>
                <a:ext cx="216836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E3F2FD">
                        <a:alphaMod val="9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答辩日期：2026 年 6 月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762000" y="6286500"/>
            <a:ext cx="3238500" cy="342900"/>
            <a:chOff x="762000" y="6286500"/>
            <a:chExt cx="3238500" cy="342900"/>
          </a:xfrm>
        </p:grpSpPr>
        <p:sp>
          <p:nvSpPr>
            <p:cNvPr id="24" name="Rectangle 24"/>
            <p:cNvSpPr/>
            <p:nvPr/>
          </p:nvSpPr>
          <p:spPr>
            <a:xfrm>
              <a:off x="762000" y="6286500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4CAF50">
                <a:alpha val="70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52002" y="6376035"/>
              <a:ext cx="9629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>
                      <a:alphaMod val="70000"/>
                    </a:srgbClr>
                  </a:solidFill>
                  <a:latin typeface="Segoe UI"/>
                  <a:ea typeface="Microsoft YaHei"/>
                  <a:cs typeface="Segoe UI"/>
                </a:rPr>
                <a:t>Spring Boot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095500" y="6286500"/>
              <a:ext cx="762000" cy="342900"/>
            </a:xfrm>
            <a:prstGeom prst="roundRect">
              <a:avLst>
                <a:gd name="adj" fmla="val 50000"/>
              </a:avLst>
            </a:prstGeom>
            <a:solidFill>
              <a:srgbClr val="FF6B35">
                <a:alpha val="70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251234" y="6376035"/>
              <a:ext cx="4505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>
                      <a:alphaMod val="70000"/>
                    </a:srgbClr>
                  </a:solidFill>
                  <a:latin typeface="Segoe UI"/>
                  <a:ea typeface="Microsoft YaHei"/>
                  <a:cs typeface="Segoe UI"/>
                </a:rPr>
                <a:t>Vue 3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048000" y="628650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1565C0">
                <a:alpha val="70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244377" y="6376035"/>
              <a:ext cx="5597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>
                      <a:alphaMod val="70000"/>
                    </a:srgbClr>
                  </a:solidFill>
                  <a:latin typeface="Segoe UI"/>
                  <a:ea typeface="Microsoft YaHei"/>
                  <a:cs typeface="Segoe UI"/>
                </a:rPr>
                <a:t>MySQL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/>
      <p:bldP spid="3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项目概述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71500" y="1143000"/>
            <a:ext cx="11049000" cy="4953000"/>
            <a:chOff x="571500" y="1143000"/>
            <a:chExt cx="11049000" cy="4953000"/>
          </a:xfrm>
        </p:grpSpPr>
        <p:grpSp>
          <p:nvGrpSpPr>
            <p:cNvPr id="10" name="Group 10"/>
            <p:cNvGrpSpPr/>
            <p:nvPr/>
          </p:nvGrpSpPr>
          <p:grpSpPr>
            <a:xfrm>
              <a:off x="571500" y="1143000"/>
              <a:ext cx="4953000" cy="4953000"/>
              <a:chOff x="571500" y="1143000"/>
              <a:chExt cx="4953000" cy="495300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571500" y="1143000"/>
                <a:ext cx="4953000" cy="4953000"/>
              </a:xfrm>
              <a:prstGeom prst="roundRect">
                <a:avLst>
                  <a:gd name="adj" fmla="val 2308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831532" y="1400651"/>
                <a:ext cx="1185577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5" b="1" dirty="0">
                    <a:solidFill>
                      <a:srgbClr val="1565C0"/>
                    </a:solidFill>
                    <a:latin typeface="Segoe UI"/>
                    <a:ea typeface="Microsoft YaHei"/>
                    <a:cs typeface="Segoe UI"/>
                  </a:rPr>
                  <a:t>系统定位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40105" y="1949768"/>
                <a:ext cx="1920240" cy="5505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75"/>
                  </a:lnSpc>
                </a:pP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面向 200-5000 人企业的</a:t>
                </a: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办公自动化系统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40105" y="2711768"/>
                <a:ext cx="2091690" cy="8267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75"/>
                  </a:lnSpc>
                </a:pP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覆盖 8 大业务域：</a:t>
                </a: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行政、人事、财务、审批、</a:t>
                </a: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协同、资产、知识、报表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40105" y="3759518"/>
                <a:ext cx="2434590" cy="8267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75"/>
                  </a:lnSpc>
                </a:pP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核心价值：</a:t>
                </a: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减少线下审批和人工统计成本，</a:t>
                </a: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实现办公流程线上化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905500" y="1143000"/>
              <a:ext cx="5715000" cy="4953000"/>
              <a:chOff x="5905500" y="1143000"/>
              <a:chExt cx="5715000" cy="49530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905500" y="1143000"/>
                <a:ext cx="5715000" cy="4953000"/>
              </a:xfrm>
              <a:prstGeom prst="roundRect">
                <a:avLst>
                  <a:gd name="adj" fmla="val 2308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6165532" y="1400651"/>
                <a:ext cx="1185577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025" b="1" dirty="0">
                    <a:solidFill>
                      <a:srgbClr val="1565C0"/>
                    </a:solidFill>
                    <a:latin typeface="Segoe UI"/>
                    <a:ea typeface="Microsoft YaHei"/>
                    <a:cs typeface="Segoe UI"/>
                  </a:rPr>
                  <a:t>核心目标</a:t>
                </a:r>
              </a:p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6305550" y="2114550"/>
                <a:ext cx="152400" cy="152400"/>
              </a:xfrm>
              <a:prstGeom prst="ellipse">
                <a:avLst/>
              </a:pr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6650355" y="2111692"/>
                <a:ext cx="201453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业务模块清晰，职责分明</a:t>
                </a: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6305550" y="2686050"/>
                <a:ext cx="152400" cy="152400"/>
              </a:xfrm>
              <a:prstGeom prst="ellipse">
                <a:avLst/>
              </a:pr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6650355" y="2683192"/>
                <a:ext cx="1405890" cy="5505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75"/>
                  </a:lnSpc>
                </a:pP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审批流程可配置，</a:t>
                </a: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灵活适配企业需求</a:t>
                </a:r>
              </a:p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6305550" y="3352800"/>
                <a:ext cx="152400" cy="152400"/>
              </a:xfrm>
              <a:prstGeom prst="ellipse">
                <a:avLst/>
              </a:pr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6650355" y="3349942"/>
                <a:ext cx="183451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权限可控、数据可追溯</a:t>
                </a: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6305550" y="3924300"/>
                <a:ext cx="152400" cy="152400"/>
              </a:xfrm>
              <a:prstGeom prst="ellipse">
                <a:avLst/>
              </a:prstGeom>
              <a:solidFill>
                <a:srgbClr val="4CAF50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650355" y="3921442"/>
                <a:ext cx="1577340" cy="5505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75"/>
                  </a:lnSpc>
                </a:pP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接口统一、</a:t>
                </a:r>
                <a:r>
                  <a:rPr lang="zh-CN" sz="1350" dirty="0">
                    <a:solidFill>
                      <a:srgbClr val="1D1D1F"/>
                    </a:solidFill>
                    <a:latin typeface="Segoe UI"/>
                    <a:ea typeface="Microsoft YaHei"/>
                    <a:cs typeface="Segoe UI"/>
                  </a:rPr>
                  <a:t>前端页面可快速扩展</a:t>
                </a:r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11543062" y="661797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技术选型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571500" y="1143000"/>
            <a:ext cx="11049000" cy="4953000"/>
            <a:chOff x="571500" y="1143000"/>
            <a:chExt cx="11049000" cy="4953000"/>
          </a:xfrm>
        </p:grpSpPr>
        <p:grpSp>
          <p:nvGrpSpPr>
            <p:cNvPr id="19" name="Group 19"/>
            <p:cNvGrpSpPr/>
            <p:nvPr/>
          </p:nvGrpSpPr>
          <p:grpSpPr>
            <a:xfrm>
              <a:off x="571500" y="1143000"/>
              <a:ext cx="3429000" cy="4953000"/>
              <a:chOff x="571500" y="1143000"/>
              <a:chExt cx="3429000" cy="495300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571500" y="1143000"/>
                <a:ext cx="3429000" cy="4953000"/>
              </a:xfrm>
              <a:prstGeom prst="roundRect">
                <a:avLst>
                  <a:gd name="adj" fmla="val 3333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6" name="Rectangle 6"/>
              <p:cNvSpPr/>
              <p:nvPr/>
            </p:nvSpPr>
            <p:spPr>
              <a:xfrm>
                <a:off x="571500" y="1143000"/>
                <a:ext cx="3429000" cy="571500"/>
              </a:xfrm>
              <a:prstGeom prst="roundRect">
                <a:avLst>
                  <a:gd name="adj" fmla="val 20000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571500" y="1333500"/>
                <a:ext cx="3429000" cy="381000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633061" y="1329690"/>
                <a:ext cx="130587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前端技术栈</a:t>
                </a:r>
              </a:p>
            </p:txBody>
          </p:sp>
          <p:grpSp>
            <p:nvGrpSpPr>
              <p:cNvPr id="18" name="Group 18"/>
              <p:cNvGrpSpPr/>
              <p:nvPr/>
            </p:nvGrpSpPr>
            <p:grpSpPr>
              <a:xfrm>
                <a:off x="840105" y="2045018"/>
                <a:ext cx="1499223" cy="3015138"/>
                <a:chOff x="840105" y="2045018"/>
                <a:chExt cx="1499223" cy="3015138"/>
              </a:xfrm>
            </p:grpSpPr>
            <p:sp>
              <p:nvSpPr>
                <p:cNvPr id="9" name="TextBox 9"/>
                <p:cNvSpPr txBox="1"/>
                <p:nvPr/>
              </p:nvSpPr>
              <p:spPr>
                <a:xfrm>
                  <a:off x="840105" y="2045018"/>
                  <a:ext cx="506849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Vue 3</a:t>
                  </a:r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842962" y="2307431"/>
                  <a:ext cx="1146215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6C757D"/>
                      </a:solidFill>
                      <a:latin typeface="Segoe UI"/>
                      <a:ea typeface="Microsoft YaHei"/>
                      <a:cs typeface="Segoe UI"/>
                    </a:rPr>
                    <a:t>Composition API</a:t>
                  </a:r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840105" y="2711768"/>
                  <a:ext cx="1499223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TypeScript 4.9+</a:t>
                  </a:r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840105" y="3235642"/>
                  <a:ext cx="1177883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Element Plus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842962" y="3498056"/>
                  <a:ext cx="606147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6C757D"/>
                      </a:solidFill>
                      <a:latin typeface="Segoe UI"/>
                      <a:ea typeface="Microsoft YaHei"/>
                      <a:cs typeface="Segoe UI"/>
                    </a:rPr>
                    <a:t>UI组件库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840105" y="3902392"/>
                  <a:ext cx="563556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Vite 5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842962" y="4164806"/>
                  <a:ext cx="628650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6C757D"/>
                      </a:solidFill>
                      <a:latin typeface="Segoe UI"/>
                      <a:ea typeface="Microsoft YaHei"/>
                      <a:cs typeface="Segoe UI"/>
                    </a:rPr>
                    <a:t>构建工具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840105" y="4569142"/>
                  <a:ext cx="459593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Pinia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842962" y="4831556"/>
                  <a:ext cx="628650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6C757D"/>
                      </a:solidFill>
                      <a:latin typeface="Segoe UI"/>
                      <a:ea typeface="Microsoft YaHei"/>
                      <a:cs typeface="Segoe UI"/>
                    </a:rPr>
                    <a:t>状态管理</a:t>
                  </a:r>
                </a:p>
              </p:txBody>
            </p:sp>
          </p:grpSp>
        </p:grpSp>
        <p:grpSp>
          <p:nvGrpSpPr>
            <p:cNvPr id="30" name="Group 30"/>
            <p:cNvGrpSpPr/>
            <p:nvPr/>
          </p:nvGrpSpPr>
          <p:grpSpPr>
            <a:xfrm>
              <a:off x="4381500" y="1143000"/>
              <a:ext cx="3429000" cy="4953000"/>
              <a:chOff x="4381500" y="1143000"/>
              <a:chExt cx="3429000" cy="4953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4381500" y="1143000"/>
                <a:ext cx="3429000" cy="4953000"/>
              </a:xfrm>
              <a:prstGeom prst="roundRect">
                <a:avLst>
                  <a:gd name="adj" fmla="val 3333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4381500" y="1143000"/>
                <a:ext cx="3429000" cy="571500"/>
              </a:xfrm>
              <a:prstGeom prst="roundRect">
                <a:avLst>
                  <a:gd name="adj" fmla="val 20000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381500" y="1333500"/>
                <a:ext cx="3429000" cy="381000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443061" y="1329690"/>
                <a:ext cx="130587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后端技术栈</a:t>
                </a:r>
              </a:p>
            </p:txBody>
          </p:sp>
          <p:grpSp>
            <p:nvGrpSpPr>
              <p:cNvPr id="29" name="Group 29"/>
              <p:cNvGrpSpPr/>
              <p:nvPr/>
            </p:nvGrpSpPr>
            <p:grpSpPr>
              <a:xfrm>
                <a:off x="4650105" y="2045018"/>
                <a:ext cx="1593735" cy="2369820"/>
                <a:chOff x="4650105" y="2045018"/>
                <a:chExt cx="1593735" cy="2369820"/>
              </a:xfrm>
            </p:grpSpPr>
            <p:sp>
              <p:nvSpPr>
                <p:cNvPr id="24" name="TextBox 24"/>
                <p:cNvSpPr txBox="1"/>
                <p:nvPr/>
              </p:nvSpPr>
              <p:spPr>
                <a:xfrm>
                  <a:off x="4650105" y="2045018"/>
                  <a:ext cx="714775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Java 17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4650105" y="2568892"/>
                  <a:ext cx="1451967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Spring Boot 3.4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4650105" y="3092768"/>
                  <a:ext cx="1593735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MyBatis-Plus 3.5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4650105" y="3616642"/>
                  <a:ext cx="998310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MySQL 8.0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4650105" y="4140518"/>
                  <a:ext cx="667519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Redis 7</a:t>
                  </a:r>
                </a:p>
              </p:txBody>
            </p:sp>
          </p:grpSp>
        </p:grpSp>
        <p:grpSp>
          <p:nvGrpSpPr>
            <p:cNvPr id="44" name="Group 44"/>
            <p:cNvGrpSpPr/>
            <p:nvPr/>
          </p:nvGrpSpPr>
          <p:grpSpPr>
            <a:xfrm>
              <a:off x="8191500" y="1143000"/>
              <a:ext cx="3429000" cy="4953000"/>
              <a:chOff x="8191500" y="1143000"/>
              <a:chExt cx="3429000" cy="49530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191500" y="1143000"/>
                <a:ext cx="3429000" cy="4953000"/>
              </a:xfrm>
              <a:prstGeom prst="roundRect">
                <a:avLst>
                  <a:gd name="adj" fmla="val 3333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8191500" y="1143000"/>
                <a:ext cx="3429000" cy="571500"/>
              </a:xfrm>
              <a:prstGeom prst="roundRect">
                <a:avLst>
                  <a:gd name="adj" fmla="val 20000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8191500" y="1333500"/>
                <a:ext cx="3429000" cy="381000"/>
              </a:xfrm>
              <a:prstGeom prst="rect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9379077" y="1329690"/>
                <a:ext cx="105384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基础设施</a:t>
                </a:r>
              </a:p>
            </p:txBody>
          </p:sp>
          <p:grpSp>
            <p:nvGrpSpPr>
              <p:cNvPr id="43" name="Group 43"/>
              <p:cNvGrpSpPr/>
              <p:nvPr/>
            </p:nvGrpSpPr>
            <p:grpSpPr>
              <a:xfrm>
                <a:off x="8460105" y="2045018"/>
                <a:ext cx="1480321" cy="2491263"/>
                <a:chOff x="8460105" y="2045018"/>
                <a:chExt cx="1480321" cy="2491263"/>
              </a:xfrm>
            </p:grpSpPr>
            <p:sp>
              <p:nvSpPr>
                <p:cNvPr id="35" name="TextBox 35"/>
                <p:cNvSpPr txBox="1"/>
                <p:nvPr/>
              </p:nvSpPr>
              <p:spPr>
                <a:xfrm>
                  <a:off x="8460105" y="2045018"/>
                  <a:ext cx="1480321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Docker Compose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8462962" y="2307431"/>
                  <a:ext cx="628650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6C757D"/>
                      </a:solidFill>
                      <a:latin typeface="Segoe UI"/>
                      <a:ea typeface="Microsoft YaHei"/>
                      <a:cs typeface="Segoe UI"/>
                    </a:rPr>
                    <a:t>本地开发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8460105" y="2711768"/>
                  <a:ext cx="1348004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GitHub Actions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8462962" y="2974181"/>
                  <a:ext cx="403622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6C757D"/>
                      </a:solidFill>
                      <a:latin typeface="Segoe UI"/>
                      <a:ea typeface="Microsoft YaHei"/>
                      <a:cs typeface="Segoe UI"/>
                    </a:rPr>
                    <a:t>CI/CD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8460105" y="3378518"/>
                  <a:ext cx="648617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Flyway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8462962" y="3640931"/>
                  <a:ext cx="1078706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6C757D"/>
                      </a:solidFill>
                      <a:latin typeface="Segoe UI"/>
                      <a:ea typeface="Microsoft YaHei"/>
                      <a:cs typeface="Segoe UI"/>
                    </a:rPr>
                    <a:t>数据库版本管理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8460105" y="4045268"/>
                  <a:ext cx="705324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D1D1F"/>
                      </a:solidFill>
                      <a:latin typeface="Segoe UI"/>
                      <a:ea typeface="Microsoft YaHei"/>
                      <a:cs typeface="Segoe UI"/>
                    </a:rPr>
                    <a:t>MailHog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8462962" y="4307681"/>
                  <a:ext cx="628650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dirty="0">
                      <a:solidFill>
                        <a:srgbClr val="6C757D"/>
                      </a:solidFill>
                      <a:latin typeface="Segoe UI"/>
                      <a:ea typeface="Microsoft YaHei"/>
                      <a:cs typeface="Segoe UI"/>
                    </a:rPr>
                    <a:t>邮件测试</a:t>
                  </a:r>
                </a:p>
              </p:txBody>
            </p:sp>
          </p:grpSp>
        </p:grpSp>
      </p:grpSp>
      <p:sp>
        <p:nvSpPr>
          <p:cNvPr id="46" name="TextBox 46"/>
          <p:cNvSpPr txBox="1"/>
          <p:nvPr/>
        </p:nvSpPr>
        <p:spPr>
          <a:xfrm>
            <a:off x="11543062" y="661797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系统架构设计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3238500" y="1333500"/>
            <a:ext cx="5715000" cy="4381500"/>
            <a:chOff x="3238500" y="1333500"/>
            <a:chExt cx="5715000" cy="4381500"/>
          </a:xfrm>
        </p:grpSpPr>
        <p:sp>
          <p:nvSpPr>
            <p:cNvPr id="5" name="Rectangle 5"/>
            <p:cNvSpPr/>
            <p:nvPr/>
          </p:nvSpPr>
          <p:spPr>
            <a:xfrm>
              <a:off x="3238500" y="1333500"/>
              <a:ext cx="5715000" cy="1143000"/>
            </a:xfrm>
            <a:prstGeom prst="roundRect">
              <a:avLst>
                <a:gd name="adj" fmla="val 6667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95093" y="1567815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表现层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629674" y="1902142"/>
              <a:ext cx="29326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Vue 3 + Element Plus + TypeScript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97902" y="2164556"/>
              <a:ext cx="9961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C757D"/>
                  </a:solidFill>
                  <a:latin typeface="Segoe UI"/>
                  <a:ea typeface="Microsoft YaHei"/>
                  <a:cs typeface="Segoe UI"/>
                </a:rPr>
                <a:t>前端 UI 展示层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096000" y="24765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28575">
              <a:solidFill>
                <a:srgbClr val="1565C0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6048375" y="26670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238500" y="2857500"/>
              <a:ext cx="5715000" cy="1333500"/>
            </a:xfrm>
            <a:prstGeom prst="roundRect">
              <a:avLst>
                <a:gd name="adj" fmla="val 5714"/>
              </a:avLst>
            </a:prstGeom>
            <a:solidFill>
              <a:srgbClr val="E8F5E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95093" y="313944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4CAF50"/>
                  </a:solidFill>
                  <a:latin typeface="Segoe UI"/>
                  <a:ea typeface="Microsoft YaHei"/>
                  <a:cs typeface="Segoe UI"/>
                </a:rPr>
                <a:t>业务层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69191" y="3473768"/>
              <a:ext cx="265361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Spring Boot 3 + 自研工作流引擎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05328" y="3736181"/>
              <a:ext cx="21813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C757D"/>
                  </a:solidFill>
                  <a:latin typeface="Segoe UI"/>
                  <a:ea typeface="Microsoft YaHei"/>
                  <a:cs typeface="Segoe UI"/>
                </a:rPr>
                <a:t>REST API + JWT 认证 + 业务逻辑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65335" y="3926681"/>
              <a:ext cx="20613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C757D"/>
                  </a:solidFill>
                  <a:latin typeface="Segoe UI"/>
                  <a:ea typeface="Microsoft YaHei"/>
                  <a:cs typeface="Segoe UI"/>
                </a:rPr>
                <a:t>统一响应 R&lt;T&gt; + TraceID 追踪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096000" y="41910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28575">
              <a:solidFill>
                <a:srgbClr val="4CAF50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6048375" y="4381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3238500" y="4572000"/>
              <a:ext cx="5715000" cy="1143000"/>
            </a:xfrm>
            <a:prstGeom prst="roundRect">
              <a:avLst>
                <a:gd name="adj" fmla="val 6667"/>
              </a:avLst>
            </a:prstGeom>
            <a:solidFill>
              <a:srgbClr val="FFF3E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95093" y="4806315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6B35"/>
                  </a:solidFill>
                  <a:latin typeface="Segoe UI"/>
                  <a:ea typeface="Microsoft YaHei"/>
                  <a:cs typeface="Segoe UI"/>
                </a:rPr>
                <a:t>数据层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17710" y="5140642"/>
              <a:ext cx="23565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MySQL 8 + Redis 7 + Flyway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84088" y="5403056"/>
              <a:ext cx="20238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C757D"/>
                  </a:solidFill>
                  <a:latin typeface="Segoe UI"/>
                  <a:ea typeface="Microsoft YaHei"/>
                  <a:cs typeface="Segoe UI"/>
                </a:rPr>
                <a:t>数据持久化 + 缓存 + 版本管理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543062" y="661797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318747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Maven 多模块设计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62000" y="1143000"/>
            <a:ext cx="10763250" cy="4762500"/>
            <a:chOff x="762000" y="1143000"/>
            <a:chExt cx="10763250" cy="4762500"/>
          </a:xfrm>
        </p:grpSpPr>
        <p:sp>
          <p:nvSpPr>
            <p:cNvPr id="5" name="Rectangle 5"/>
            <p:cNvSpPr/>
            <p:nvPr/>
          </p:nvSpPr>
          <p:spPr>
            <a:xfrm>
              <a:off x="762000" y="1143000"/>
              <a:ext cx="3333750" cy="1524000"/>
            </a:xfrm>
            <a:prstGeom prst="roundRect">
              <a:avLst>
                <a:gd name="adj" fmla="val 5000"/>
              </a:avLst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884759" y="131445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平台层模块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32510" y="1680210"/>
              <a:ext cx="18067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• oa-platform-common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2510" y="1918335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• oa-platform-security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2510" y="2156460"/>
              <a:ext cx="15106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• oa-platform-web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4415" y="2410778"/>
              <a:ext cx="7407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C757D"/>
                  </a:solidFill>
                  <a:latin typeface="Segoe UI"/>
                  <a:ea typeface="Microsoft YaHei"/>
                  <a:cs typeface="Segoe UI"/>
                </a:rPr>
                <a:t>(启动模块)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476750" y="1143000"/>
              <a:ext cx="3333750" cy="1524000"/>
            </a:xfrm>
            <a:prstGeom prst="roundRect">
              <a:avLst>
                <a:gd name="adj" fmla="val 5000"/>
              </a:avLst>
            </a:prstGeom>
            <a:solidFill>
              <a:srgbClr val="E8F5E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09536" y="1314450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4CAF50"/>
                  </a:solidFill>
                  <a:latin typeface="Segoe UI"/>
                  <a:ea typeface="Microsoft YaHei"/>
                  <a:cs typeface="Segoe UI"/>
                </a:rPr>
                <a:t>引擎层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47260" y="1775460"/>
              <a:ext cx="11586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• oa-workflow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49165" y="2029778"/>
              <a:ext cx="11608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C757D"/>
                  </a:solidFill>
                  <a:latin typeface="Segoe UI"/>
                  <a:ea typeface="Microsoft YaHei"/>
                  <a:cs typeface="Segoe UI"/>
                </a:rPr>
                <a:t>(自研工作流引擎)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191500" y="1143000"/>
              <a:ext cx="3333750" cy="1524000"/>
            </a:xfrm>
            <a:prstGeom prst="roundRect">
              <a:avLst>
                <a:gd name="adj" fmla="val 5000"/>
              </a:avLst>
            </a:prstGeom>
            <a:solidFill>
              <a:srgbClr val="FFF3E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51727" y="1314450"/>
              <a:ext cx="161329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6B35"/>
                  </a:solidFill>
                  <a:latin typeface="Segoe UI"/>
                  <a:ea typeface="Microsoft YaHei"/>
                  <a:cs typeface="Segoe UI"/>
                </a:rPr>
                <a:t>业务层 (14模块)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62010" y="168021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• oa-system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62010" y="1918335"/>
              <a:ext cx="19987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• oa-admin, oa-document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62010" y="2156460"/>
              <a:ext cx="17586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• oa-finance, oa-hr-*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63915" y="2410778"/>
              <a:ext cx="1036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C757D"/>
                  </a:solidFill>
                  <a:latin typeface="Segoe UI"/>
                  <a:ea typeface="Microsoft YaHei"/>
                  <a:cs typeface="Segoe UI"/>
                </a:rPr>
                <a:t>…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3048000"/>
              <a:ext cx="10763250" cy="2857500"/>
            </a:xfrm>
            <a:prstGeom prst="roundRect">
              <a:avLst>
                <a:gd name="adj" fmla="val 266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23950" y="32670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设计原则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25855" y="3759518"/>
              <a:ext cx="28876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业务模块横向隔离，禁止横向依赖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5855" y="4092892"/>
              <a:ext cx="24195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跨模块通信走 Spring Event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25855" y="4426268"/>
              <a:ext cx="36077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平台层和引擎层是所有业务模块的通用依赖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25855" y="4759642"/>
              <a:ext cx="49669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oa-platform-web 统一启动，包含全局配置和 Flyway 脚本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543062" y="661797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254478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8大业务域全景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71500" y="1143000"/>
            <a:ext cx="2667000" cy="2286000"/>
            <a:chOff x="571500" y="1143000"/>
            <a:chExt cx="2667000" cy="2286000"/>
          </a:xfrm>
          <a:effectLst>
            <a:outerShdw blurRad="57150" dist="19050" dir="5400000" algn="ctr" rotWithShape="0">
              <a:srgbClr val="000000">
                <a:alpha val="22500"/>
              </a:srgbClr>
            </a:outerShdw>
          </a:effectLst>
        </p:grpSpPr>
        <p:sp>
          <p:nvSpPr>
            <p:cNvPr id="5" name="Rectangle 5"/>
            <p:cNvSpPr/>
            <p:nvPr/>
          </p:nvSpPr>
          <p:spPr>
            <a:xfrm>
              <a:off x="571500" y="1143000"/>
              <a:ext cx="2667000" cy="2286000"/>
            </a:xfrm>
            <a:prstGeom prst="roundRect">
              <a:avLst>
                <a:gd name="adj" fmla="val 6667"/>
              </a:avLst>
            </a:prstGeom>
            <a:solidFill>
              <a:srgbClr val="E3F2FD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6" name="Rectangle 6"/>
            <p:cNvSpPr/>
            <p:nvPr/>
          </p:nvSpPr>
          <p:spPr>
            <a:xfrm>
              <a:off x="571500" y="1143000"/>
              <a:ext cx="2667000" cy="571500"/>
            </a:xfrm>
            <a:prstGeom prst="roundRect">
              <a:avLst>
                <a:gd name="adj" fmla="val 26667"/>
              </a:avLst>
            </a:prstGeom>
            <a:solidFill>
              <a:srgbClr val="1565C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571500" y="1428750"/>
              <a:ext cx="2667000" cy="2857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8" name="Ellipse 8"/>
            <p:cNvSpPr/>
            <p:nvPr/>
          </p:nvSpPr>
          <p:spPr>
            <a:xfrm>
              <a:off x="762000" y="1238250"/>
              <a:ext cx="381000" cy="381000"/>
            </a:xfrm>
            <a:prstGeom prst="ellipse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9" name="TextBox 9"/>
            <p:cNvSpPr txBox="1"/>
            <p:nvPr/>
          </p:nvSpPr>
          <p:spPr>
            <a:xfrm>
              <a:off x="1378077" y="1329690"/>
              <a:ext cx="1053846" cy="36576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系统管理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5808" y="1957864"/>
              <a:ext cx="1290542" cy="2590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用户/角色管理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808" y="2291239"/>
              <a:ext cx="1290542" cy="2590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部门/岗位管理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808" y="2624614"/>
              <a:ext cx="1290542" cy="2590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权限/字典管理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524250" y="1143000"/>
            <a:ext cx="2667000" cy="2286000"/>
            <a:chOff x="3524250" y="1143000"/>
            <a:chExt cx="2667000" cy="2286000"/>
          </a:xfrm>
          <a:effectLst>
            <a:outerShdw blurRad="57150" dist="19050" dir="5400000" algn="ctr" rotWithShape="0">
              <a:srgbClr val="000000">
                <a:alpha val="22500"/>
              </a:srgbClr>
            </a:outerShdw>
          </a:effectLst>
        </p:grpSpPr>
        <p:sp>
          <p:nvSpPr>
            <p:cNvPr id="14" name="Rectangle 14"/>
            <p:cNvSpPr/>
            <p:nvPr/>
          </p:nvSpPr>
          <p:spPr>
            <a:xfrm>
              <a:off x="3524250" y="1143000"/>
              <a:ext cx="2667000" cy="2286000"/>
            </a:xfrm>
            <a:prstGeom prst="roundRect">
              <a:avLst>
                <a:gd name="adj" fmla="val 6667"/>
              </a:avLst>
            </a:prstGeom>
            <a:solidFill>
              <a:srgbClr val="E8F5E9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5" name="Rectangle 15"/>
            <p:cNvSpPr/>
            <p:nvPr/>
          </p:nvSpPr>
          <p:spPr>
            <a:xfrm>
              <a:off x="3524250" y="1143000"/>
              <a:ext cx="2667000" cy="571500"/>
            </a:xfrm>
            <a:prstGeom prst="roundRect">
              <a:avLst>
                <a:gd name="adj" fmla="val 26667"/>
              </a:avLst>
            </a:prstGeom>
            <a:solidFill>
              <a:srgbClr val="4CAF5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6" name="Rectangle 16"/>
            <p:cNvSpPr/>
            <p:nvPr/>
          </p:nvSpPr>
          <p:spPr>
            <a:xfrm>
              <a:off x="3524250" y="1428750"/>
              <a:ext cx="2667000" cy="285750"/>
            </a:xfrm>
            <a:prstGeom prst="rect">
              <a:avLst/>
            </a:prstGeom>
            <a:solidFill>
              <a:srgbClr val="4CAF5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7" name="TextBox 17"/>
            <p:cNvSpPr txBox="1"/>
            <p:nvPr/>
          </p:nvSpPr>
          <p:spPr>
            <a:xfrm>
              <a:off x="4330827" y="1329690"/>
              <a:ext cx="1053846" cy="36576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行政管理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98558" y="1957864"/>
              <a:ext cx="1197031" cy="2590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印章使用管理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98558" y="2291239"/>
              <a:ext cx="1197031" cy="2590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资产登记盘点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98558" y="2624614"/>
              <a:ext cx="1197031" cy="2590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办公用品申领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77000" y="1143000"/>
            <a:ext cx="2667000" cy="2286000"/>
            <a:chOff x="6477000" y="1143000"/>
            <a:chExt cx="2667000" cy="2286000"/>
          </a:xfrm>
          <a:effectLst>
            <a:outerShdw blurRad="57150" dist="19050" dir="5400000" algn="ctr" rotWithShape="0">
              <a:srgbClr val="000000">
                <a:alpha val="22500"/>
              </a:srgbClr>
            </a:outerShdw>
          </a:effectLst>
        </p:grpSpPr>
        <p:sp>
          <p:nvSpPr>
            <p:cNvPr id="22" name="Rectangle 22"/>
            <p:cNvSpPr/>
            <p:nvPr/>
          </p:nvSpPr>
          <p:spPr>
            <a:xfrm>
              <a:off x="6477000" y="1143000"/>
              <a:ext cx="2667000" cy="2286000"/>
            </a:xfrm>
            <a:prstGeom prst="roundRect">
              <a:avLst>
                <a:gd name="adj" fmla="val 6667"/>
              </a:avLst>
            </a:prstGeom>
            <a:solidFill>
              <a:srgbClr val="FFF3E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23" name="Rectangle 23"/>
            <p:cNvSpPr/>
            <p:nvPr/>
          </p:nvSpPr>
          <p:spPr>
            <a:xfrm>
              <a:off x="6477000" y="1143000"/>
              <a:ext cx="2667000" cy="571500"/>
            </a:xfrm>
            <a:prstGeom prst="roundRect">
              <a:avLst>
                <a:gd name="adj" fmla="val 26667"/>
              </a:avLst>
            </a:prstGeom>
            <a:solidFill>
              <a:srgbClr val="FF6B35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24" name="Rectangle 24"/>
            <p:cNvSpPr/>
            <p:nvPr/>
          </p:nvSpPr>
          <p:spPr>
            <a:xfrm>
              <a:off x="6477000" y="1428750"/>
              <a:ext cx="2667000" cy="285750"/>
            </a:xfrm>
            <a:prstGeom prst="rect">
              <a:avLst/>
            </a:prstGeom>
            <a:solidFill>
              <a:srgbClr val="FF6B35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25" name="TextBox 25"/>
            <p:cNvSpPr txBox="1"/>
            <p:nvPr/>
          </p:nvSpPr>
          <p:spPr>
            <a:xfrm>
              <a:off x="7283577" y="1329690"/>
              <a:ext cx="1053846" cy="36576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文档管理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51308" y="1957864"/>
              <a:ext cx="1290542" cy="2590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发文/收文管理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51308" y="2291239"/>
              <a:ext cx="1197031" cy="2590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签报审批流转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51308" y="2624614"/>
              <a:ext cx="1197031" cy="2590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文档归档检索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429750" y="1143000"/>
            <a:ext cx="2667000" cy="2286000"/>
            <a:chOff x="9429750" y="1143000"/>
            <a:chExt cx="2667000" cy="2286000"/>
          </a:xfrm>
          <a:effectLst>
            <a:outerShdw blurRad="57150" dist="19050" dir="5400000" algn="ctr" rotWithShape="0">
              <a:srgbClr val="000000">
                <a:alpha val="22500"/>
              </a:srgbClr>
            </a:outerShdw>
          </a:effectLst>
        </p:grpSpPr>
        <p:sp>
          <p:nvSpPr>
            <p:cNvPr id="30" name="Rectangle 30"/>
            <p:cNvSpPr/>
            <p:nvPr/>
          </p:nvSpPr>
          <p:spPr>
            <a:xfrm>
              <a:off x="9429750" y="1143000"/>
              <a:ext cx="2667000" cy="2286000"/>
            </a:xfrm>
            <a:prstGeom prst="roundRect">
              <a:avLst>
                <a:gd name="adj" fmla="val 6667"/>
              </a:avLst>
            </a:prstGeom>
            <a:solidFill>
              <a:srgbClr val="FCE4EC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31" name="Rectangle 31"/>
            <p:cNvSpPr/>
            <p:nvPr/>
          </p:nvSpPr>
          <p:spPr>
            <a:xfrm>
              <a:off x="9429750" y="1143000"/>
              <a:ext cx="2667000" cy="571500"/>
            </a:xfrm>
            <a:prstGeom prst="roundRect">
              <a:avLst>
                <a:gd name="adj" fmla="val 26667"/>
              </a:avLst>
            </a:prstGeom>
            <a:solidFill>
              <a:srgbClr val="C2185B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32" name="Rectangle 32"/>
            <p:cNvSpPr/>
            <p:nvPr/>
          </p:nvSpPr>
          <p:spPr>
            <a:xfrm>
              <a:off x="9429750" y="1428750"/>
              <a:ext cx="2667000" cy="285750"/>
            </a:xfrm>
            <a:prstGeom prst="rect">
              <a:avLst/>
            </a:prstGeom>
            <a:solidFill>
              <a:srgbClr val="C2185B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33" name="TextBox 33"/>
            <p:cNvSpPr txBox="1"/>
            <p:nvPr/>
          </p:nvSpPr>
          <p:spPr>
            <a:xfrm>
              <a:off x="10236327" y="1329690"/>
              <a:ext cx="1053846" cy="36576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财务管理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604058" y="1957864"/>
              <a:ext cx="1290542" cy="2590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预算编制/报销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04058" y="2291239"/>
              <a:ext cx="1290542" cy="2590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借款/合同管理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604058" y="2624614"/>
              <a:ext cx="1197031" cy="2590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付款流程审批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71500" y="3714750"/>
            <a:ext cx="2667000" cy="2286000"/>
            <a:chOff x="571500" y="3714750"/>
            <a:chExt cx="2667000" cy="2286000"/>
          </a:xfrm>
          <a:effectLst>
            <a:outerShdw blurRad="57150" dist="19050" dir="5400000" algn="ctr" rotWithShape="0">
              <a:srgbClr val="000000">
                <a:alpha val="22500"/>
              </a:srgbClr>
            </a:outerShdw>
          </a:effectLst>
        </p:grpSpPr>
        <p:sp>
          <p:nvSpPr>
            <p:cNvPr id="38" name="Rectangle 38"/>
            <p:cNvSpPr/>
            <p:nvPr/>
          </p:nvSpPr>
          <p:spPr>
            <a:xfrm>
              <a:off x="571500" y="3714750"/>
              <a:ext cx="2667000" cy="2286000"/>
            </a:xfrm>
            <a:prstGeom prst="roundRect">
              <a:avLst>
                <a:gd name="adj" fmla="val 6667"/>
              </a:avLst>
            </a:prstGeom>
            <a:solidFill>
              <a:srgbClr val="F3E5F5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39" name="Rectangle 39"/>
            <p:cNvSpPr/>
            <p:nvPr/>
          </p:nvSpPr>
          <p:spPr>
            <a:xfrm>
              <a:off x="571500" y="3714750"/>
              <a:ext cx="2667000" cy="571500"/>
            </a:xfrm>
            <a:prstGeom prst="roundRect">
              <a:avLst>
                <a:gd name="adj" fmla="val 26667"/>
              </a:avLst>
            </a:prstGeom>
            <a:solidFill>
              <a:srgbClr val="7B1FA2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40" name="Rectangle 40"/>
            <p:cNvSpPr/>
            <p:nvPr/>
          </p:nvSpPr>
          <p:spPr>
            <a:xfrm>
              <a:off x="571500" y="4000500"/>
              <a:ext cx="2667000" cy="285750"/>
            </a:xfrm>
            <a:prstGeom prst="rect">
              <a:avLst/>
            </a:prstGeom>
            <a:solidFill>
              <a:srgbClr val="7B1FA2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41" name="TextBox 41"/>
            <p:cNvSpPr txBox="1"/>
            <p:nvPr/>
          </p:nvSpPr>
          <p:spPr>
            <a:xfrm>
              <a:off x="1378077" y="3901440"/>
              <a:ext cx="1053846" cy="36576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人事管理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5808" y="4529614"/>
              <a:ext cx="1197031" cy="2590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员工档案管理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5808" y="4862989"/>
              <a:ext cx="1290542" cy="2590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入职/离职流程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5808" y="5196364"/>
              <a:ext cx="1197031" cy="2590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薪资社保管理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524250" y="3714750"/>
            <a:ext cx="2667000" cy="2286000"/>
            <a:chOff x="3524250" y="3714750"/>
            <a:chExt cx="2667000" cy="2286000"/>
          </a:xfrm>
          <a:effectLst>
            <a:outerShdw blurRad="57150" dist="19050" dir="5400000" algn="ctr" rotWithShape="0">
              <a:srgbClr val="000000">
                <a:alpha val="22500"/>
              </a:srgbClr>
            </a:outerShdw>
          </a:effectLst>
        </p:grpSpPr>
        <p:sp>
          <p:nvSpPr>
            <p:cNvPr id="46" name="Rectangle 46"/>
            <p:cNvSpPr/>
            <p:nvPr/>
          </p:nvSpPr>
          <p:spPr>
            <a:xfrm>
              <a:off x="3524250" y="3714750"/>
              <a:ext cx="2667000" cy="2286000"/>
            </a:xfrm>
            <a:prstGeom prst="roundRect">
              <a:avLst>
                <a:gd name="adj" fmla="val 6667"/>
              </a:avLst>
            </a:prstGeom>
            <a:solidFill>
              <a:srgbClr val="E0F2F1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47" name="Rectangle 47"/>
            <p:cNvSpPr/>
            <p:nvPr/>
          </p:nvSpPr>
          <p:spPr>
            <a:xfrm>
              <a:off x="3524250" y="3714750"/>
              <a:ext cx="2667000" cy="571500"/>
            </a:xfrm>
            <a:prstGeom prst="roundRect">
              <a:avLst>
                <a:gd name="adj" fmla="val 26667"/>
              </a:avLst>
            </a:prstGeom>
            <a:solidFill>
              <a:srgbClr val="00796B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48" name="Rectangle 48"/>
            <p:cNvSpPr/>
            <p:nvPr/>
          </p:nvSpPr>
          <p:spPr>
            <a:xfrm>
              <a:off x="3524250" y="4000500"/>
              <a:ext cx="2667000" cy="285750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49" name="TextBox 49"/>
            <p:cNvSpPr txBox="1"/>
            <p:nvPr/>
          </p:nvSpPr>
          <p:spPr>
            <a:xfrm>
              <a:off x="4330827" y="3901440"/>
              <a:ext cx="1053846" cy="36576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考勤请假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698558" y="4529614"/>
              <a:ext cx="1197031" cy="2590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打卡签到统计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698558" y="4862989"/>
              <a:ext cx="1290542" cy="2590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请假/加班审批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698558" y="5196364"/>
              <a:ext cx="1197031" cy="2590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年假额度管理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477000" y="3714750"/>
            <a:ext cx="2667000" cy="2286000"/>
            <a:chOff x="6477000" y="3714750"/>
            <a:chExt cx="2667000" cy="2286000"/>
          </a:xfrm>
          <a:effectLst>
            <a:outerShdw blurRad="57150" dist="19050" dir="5400000" algn="ctr" rotWithShape="0">
              <a:srgbClr val="000000">
                <a:alpha val="22500"/>
              </a:srgbClr>
            </a:outerShdw>
          </a:effectLst>
        </p:grpSpPr>
        <p:sp>
          <p:nvSpPr>
            <p:cNvPr id="54" name="Rectangle 54"/>
            <p:cNvSpPr/>
            <p:nvPr/>
          </p:nvSpPr>
          <p:spPr>
            <a:xfrm>
              <a:off x="6477000" y="3714750"/>
              <a:ext cx="2667000" cy="2286000"/>
            </a:xfrm>
            <a:prstGeom prst="roundRect">
              <a:avLst>
                <a:gd name="adj" fmla="val 6667"/>
              </a:avLst>
            </a:prstGeom>
            <a:solidFill>
              <a:srgbClr val="E8EAF6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55" name="Rectangle 55"/>
            <p:cNvSpPr/>
            <p:nvPr/>
          </p:nvSpPr>
          <p:spPr>
            <a:xfrm>
              <a:off x="6477000" y="3714750"/>
              <a:ext cx="2667000" cy="571500"/>
            </a:xfrm>
            <a:prstGeom prst="roundRect">
              <a:avLst>
                <a:gd name="adj" fmla="val 26667"/>
              </a:avLst>
            </a:prstGeom>
            <a:solidFill>
              <a:srgbClr val="3F51B5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56" name="Rectangle 56"/>
            <p:cNvSpPr/>
            <p:nvPr/>
          </p:nvSpPr>
          <p:spPr>
            <a:xfrm>
              <a:off x="6477000" y="4000500"/>
              <a:ext cx="2667000" cy="285750"/>
            </a:xfrm>
            <a:prstGeom prst="rect">
              <a:avLst/>
            </a:prstGeom>
            <a:solidFill>
              <a:srgbClr val="3F51B5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57" name="TextBox 57"/>
            <p:cNvSpPr txBox="1"/>
            <p:nvPr/>
          </p:nvSpPr>
          <p:spPr>
            <a:xfrm>
              <a:off x="7283577" y="3901440"/>
              <a:ext cx="1053846" cy="36576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知识协同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51308" y="4529614"/>
              <a:ext cx="1027009" cy="2590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知识库管理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51308" y="4862989"/>
              <a:ext cx="1027009" cy="2590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会议室预约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51308" y="5196364"/>
              <a:ext cx="1197031" cy="2590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任务协作分配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429750" y="3714750"/>
            <a:ext cx="2667000" cy="2286000"/>
            <a:chOff x="9429750" y="3714750"/>
            <a:chExt cx="2667000" cy="2286000"/>
          </a:xfrm>
          <a:effectLst>
            <a:outerShdw blurRad="57150" dist="19050" dir="5400000" algn="ctr" rotWithShape="0">
              <a:srgbClr val="000000">
                <a:alpha val="22500"/>
              </a:srgbClr>
            </a:outerShdw>
          </a:effectLst>
        </p:grpSpPr>
        <p:sp>
          <p:nvSpPr>
            <p:cNvPr id="62" name="Rectangle 62"/>
            <p:cNvSpPr/>
            <p:nvPr/>
          </p:nvSpPr>
          <p:spPr>
            <a:xfrm>
              <a:off x="9429750" y="3714750"/>
              <a:ext cx="2667000" cy="2286000"/>
            </a:xfrm>
            <a:prstGeom prst="roundRect">
              <a:avLst>
                <a:gd name="adj" fmla="val 6667"/>
              </a:avLst>
            </a:prstGeom>
            <a:solidFill>
              <a:srgbClr val="FFF9C4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63" name="Rectangle 63"/>
            <p:cNvSpPr/>
            <p:nvPr/>
          </p:nvSpPr>
          <p:spPr>
            <a:xfrm>
              <a:off x="9429750" y="3714750"/>
              <a:ext cx="2667000" cy="571500"/>
            </a:xfrm>
            <a:prstGeom prst="roundRect">
              <a:avLst>
                <a:gd name="adj" fmla="val 26667"/>
              </a:avLst>
            </a:prstGeom>
            <a:solidFill>
              <a:srgbClr val="F57F17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64" name="Rectangle 64"/>
            <p:cNvSpPr/>
            <p:nvPr/>
          </p:nvSpPr>
          <p:spPr>
            <a:xfrm>
              <a:off x="9429750" y="4000500"/>
              <a:ext cx="2667000" cy="285750"/>
            </a:xfrm>
            <a:prstGeom prst="rect">
              <a:avLst/>
            </a:prstGeom>
            <a:solidFill>
              <a:srgbClr val="F57F17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65" name="TextBox 65"/>
            <p:cNvSpPr txBox="1"/>
            <p:nvPr/>
          </p:nvSpPr>
          <p:spPr>
            <a:xfrm>
              <a:off x="10236327" y="3901440"/>
              <a:ext cx="1053846" cy="36576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消息报表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604058" y="4529614"/>
              <a:ext cx="1197031" cy="2590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站内消息推送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604058" y="4862989"/>
              <a:ext cx="1197031" cy="2590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邮件通知服务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604058" y="5196364"/>
              <a:ext cx="1197031" cy="2590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1D1F"/>
                  </a:solidFill>
                  <a:latin typeface="Segoe UI"/>
                  <a:ea typeface="Microsoft YaHei"/>
                  <a:cs typeface="Segoe UI"/>
                </a:rPr>
                <a:t>✓ 数据报表生成</a:t>
              </a:r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1543062" y="661797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Segoe UI"/>
                <a:ea typeface="Microsoft YaHei"/>
                <a:cs typeface="Segoe UI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405697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典型业务流程:请假审批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143000"/>
            <a:ext cx="4953000" cy="4953000"/>
          </a:xfrm>
          <a:prstGeom prst="roundRect">
            <a:avLst>
              <a:gd name="adj" fmla="val 2308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711577" y="142494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流程步骤</a:t>
            </a:r>
          </a:p>
        </p:txBody>
      </p:sp>
      <p:sp>
        <p:nvSpPr>
          <p:cNvPr id="7" name="Ellipse 7"/>
          <p:cNvSpPr/>
          <p:nvPr/>
        </p:nvSpPr>
        <p:spPr>
          <a:xfrm>
            <a:off x="952500" y="200025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73874" y="212121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06855" y="2121218"/>
            <a:ext cx="14744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员工提交请假申请</a:t>
            </a:r>
          </a:p>
        </p:txBody>
      </p:sp>
      <p:sp>
        <p:nvSpPr>
          <p:cNvPr id="10" name="Ellipse 10"/>
          <p:cNvSpPr/>
          <p:nvPr/>
        </p:nvSpPr>
        <p:spPr>
          <a:xfrm>
            <a:off x="952500" y="266700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73874" y="278796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6855" y="2787968"/>
            <a:ext cx="16544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系统创建工作流实例</a:t>
            </a:r>
          </a:p>
        </p:txBody>
      </p:sp>
      <p:sp>
        <p:nvSpPr>
          <p:cNvPr id="13" name="Ellipse 13"/>
          <p:cNvSpPr/>
          <p:nvPr/>
        </p:nvSpPr>
        <p:spPr>
          <a:xfrm>
            <a:off x="952500" y="333375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73874" y="345471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06855" y="3454718"/>
            <a:ext cx="18345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工作流引擎路由审批人</a:t>
            </a:r>
          </a:p>
        </p:txBody>
      </p:sp>
      <p:sp>
        <p:nvSpPr>
          <p:cNvPr id="16" name="Ellipse 16"/>
          <p:cNvSpPr/>
          <p:nvPr/>
        </p:nvSpPr>
        <p:spPr>
          <a:xfrm>
            <a:off x="952500" y="400050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073874" y="412146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06855" y="4121468"/>
            <a:ext cx="20145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审批通过后扣减年假额度</a:t>
            </a:r>
          </a:p>
        </p:txBody>
      </p:sp>
      <p:sp>
        <p:nvSpPr>
          <p:cNvPr id="19" name="Ellipse 19"/>
          <p:cNvSpPr/>
          <p:nvPr/>
        </p:nvSpPr>
        <p:spPr>
          <a:xfrm>
            <a:off x="952500" y="4667250"/>
            <a:ext cx="381000" cy="381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73874" y="478821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06855" y="4788218"/>
            <a:ext cx="18345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发送消息通知相关人员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096000" y="1143000"/>
            <a:ext cx="5524500" cy="4953000"/>
          </a:xfrm>
          <a:prstGeom prst="roundRect">
            <a:avLst>
              <a:gd name="adj" fmla="val 2308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079296" y="142494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4CAF50"/>
                </a:solidFill>
                <a:latin typeface="Segoe UI"/>
                <a:ea typeface="Microsoft YaHei"/>
                <a:cs typeface="Segoe UI"/>
              </a:rPr>
              <a:t>技术实现要点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59855" y="2045018"/>
            <a:ext cx="27796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Spring Event 解耦工作流与业务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59855" y="2521268"/>
            <a:ext cx="21675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审批路由支持条件表达式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2260" y="2823210"/>
            <a:ext cx="13426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C757D"/>
                </a:solidFill>
                <a:latin typeface="Segoe UI"/>
                <a:ea typeface="Microsoft YaHei"/>
                <a:cs typeface="Segoe UI"/>
              </a:rPr>
              <a:t>(天数/金额/层级)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59855" y="3283268"/>
            <a:ext cx="23475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额度扣减使用悲观锁防并发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59855" y="3759518"/>
            <a:ext cx="16274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消息通知异步发送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52260" y="4061460"/>
            <a:ext cx="15026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C757D"/>
                </a:solidFill>
                <a:latin typeface="Segoe UI"/>
                <a:ea typeface="Microsoft YaHei"/>
                <a:cs typeface="Segoe UI"/>
              </a:rPr>
              <a:t>(站内信/邮件/钉钉)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543062" y="661797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Segoe UI"/>
                <a:ea typeface="Microsoft YaHei"/>
                <a:cs typeface="Segoe UI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核心功能亮点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1435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554796" y="171069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统一审批抽象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235518"/>
            <a:ext cx="29146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所有审批业务共享同一套工作流引擎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07546" y="171069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4CAF50"/>
                </a:solidFill>
                <a:latin typeface="Segoe UI"/>
                <a:ea typeface="Microsoft YaHei"/>
                <a:cs typeface="Segoe UI"/>
              </a:rPr>
              <a:t>灵活路由策略</a:t>
            </a:r>
          </a:p>
        </p:txBody>
      </p:sp>
      <p:sp>
        <p:nvSpPr>
          <p:cNvPr id="9" name="Rectangle 9"/>
          <p:cNvSpPr/>
          <p:nvPr/>
        </p:nvSpPr>
        <p:spPr>
          <a:xfrm>
            <a:off x="6286500" y="209550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6650355" y="2426018"/>
            <a:ext cx="23655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固定审批人/角色/部门主管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50355" y="2807018"/>
            <a:ext cx="23835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条件路由(金额/天数/层级)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50355" y="3188018"/>
            <a:ext cx="19245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会签/或签/委派/转交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286500" y="4095750"/>
            <a:ext cx="5143500" cy="1809750"/>
          </a:xfrm>
          <a:prstGeom prst="roundRect">
            <a:avLst>
              <a:gd name="adj" fmla="val 4211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144208" y="42986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6B35"/>
                </a:solidFill>
                <a:latin typeface="Segoe UI"/>
                <a:ea typeface="Microsoft YaHei"/>
                <a:cs typeface="Segoe UI"/>
              </a:rPr>
              <a:t>实时消息推送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0355" y="4712018"/>
            <a:ext cx="18885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WebSocket + 轮询降级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0355" y="5045392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保证消息必达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3238500"/>
            <a:ext cx="5143500" cy="1238250"/>
          </a:xfrm>
          <a:prstGeom prst="roundRect">
            <a:avLst>
              <a:gd name="adj" fmla="val 6154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23950" y="345757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数据权限隔离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7760" y="3823335"/>
            <a:ext cx="28868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5级权限(本人/本部门/下级/公司/全部)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4667250"/>
            <a:ext cx="5143500" cy="1238250"/>
          </a:xfrm>
          <a:prstGeom prst="roundRect">
            <a:avLst>
              <a:gd name="adj" fmla="val 6154"/>
            </a:avLst>
          </a:prstGeom>
          <a:solidFill>
            <a:srgbClr val="FCE4E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123950" y="488632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2185B"/>
                </a:solidFill>
                <a:latin typeface="Segoe UI"/>
                <a:ea typeface="Microsoft YaHei"/>
                <a:cs typeface="Segoe UI"/>
              </a:rPr>
              <a:t>全链路追踪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7760" y="5252085"/>
            <a:ext cx="21427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分布式 TraceID 快速定位问题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543062" y="661797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Segoe UI"/>
                <a:ea typeface="Microsoft YaHei"/>
                <a:cs typeface="Segoe UI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34710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自研工作流引擎设计</a:t>
            </a:r>
          </a:p>
        </p:txBody>
      </p:sp>
      <p:sp>
        <p:nvSpPr>
          <p:cNvPr id="5" name="Rectangle 5"/>
          <p:cNvSpPr/>
          <p:nvPr/>
        </p:nvSpPr>
        <p:spPr>
          <a:xfrm>
            <a:off x="1905000" y="1333500"/>
            <a:ext cx="8382000" cy="76200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477375" y="1647825"/>
            <a:ext cx="9237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核心表: wf_process_definitions | wf_process_instances | wf_tasks | wf_task_delegations</a:t>
            </a:r>
          </a:p>
        </p:txBody>
      </p:sp>
      <p:sp>
        <p:nvSpPr>
          <p:cNvPr id="7" name="Line 7"/>
          <p:cNvSpPr/>
          <p:nvPr/>
        </p:nvSpPr>
        <p:spPr>
          <a:xfrm>
            <a:off x="6096000" y="20955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28575">
            <a:solidFill>
              <a:srgbClr val="1565C0"/>
            </a:solidFill>
          </a:ln>
        </p:spPr>
      </p:sp>
      <p:sp>
        <p:nvSpPr>
          <p:cNvPr id="8" name="Polygon 8"/>
          <p:cNvSpPr/>
          <p:nvPr/>
        </p:nvSpPr>
        <p:spPr>
          <a:xfrm>
            <a:off x="6048375" y="2286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95250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952500" y="2476500"/>
            <a:ext cx="1714500" cy="9525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603581" y="2711768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4CAF50"/>
                </a:solidFill>
                <a:latin typeface="Segoe UI"/>
                <a:ea typeface="Microsoft YaHei"/>
                <a:cs typeface="Segoe UI"/>
              </a:rPr>
              <a:t>发起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16380" y="30299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C757D"/>
                </a:solidFill>
                <a:latin typeface="Segoe UI"/>
                <a:ea typeface="Microsoft YaHei"/>
                <a:cs typeface="Segoe UI"/>
              </a:rPr>
              <a:t>创建实例</a:t>
            </a:r>
          </a:p>
        </p:txBody>
      </p:sp>
      <p:sp>
        <p:nvSpPr>
          <p:cNvPr id="12" name="Line 12"/>
          <p:cNvSpPr/>
          <p:nvPr/>
        </p:nvSpPr>
        <p:spPr>
          <a:xfrm>
            <a:off x="2667000" y="295275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8575">
            <a:solidFill>
              <a:srgbClr val="4CAF50"/>
            </a:solidFill>
          </a:ln>
        </p:spPr>
      </p:sp>
      <p:sp>
        <p:nvSpPr>
          <p:cNvPr id="13" name="Polygon 13"/>
          <p:cNvSpPr/>
          <p:nvPr/>
        </p:nvSpPr>
        <p:spPr>
          <a:xfrm>
            <a:off x="3048000" y="2905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4CAF50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3238500" y="2476500"/>
            <a:ext cx="1714500" cy="9525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700558" y="27117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4CAF50"/>
                </a:solidFill>
                <a:latin typeface="Segoe UI"/>
                <a:ea typeface="Microsoft YaHei"/>
                <a:cs typeface="Segoe UI"/>
              </a:rPr>
              <a:t>生成任务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32371" y="3029902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C757D"/>
                </a:solidFill>
                <a:latin typeface="Segoe UI"/>
                <a:ea typeface="Microsoft YaHei"/>
                <a:cs typeface="Segoe UI"/>
              </a:rPr>
              <a:t>路由审批人</a:t>
            </a:r>
          </a:p>
        </p:txBody>
      </p:sp>
      <p:sp>
        <p:nvSpPr>
          <p:cNvPr id="17" name="Line 17"/>
          <p:cNvSpPr/>
          <p:nvPr/>
        </p:nvSpPr>
        <p:spPr>
          <a:xfrm>
            <a:off x="4953000" y="295275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8575">
            <a:solidFill>
              <a:srgbClr val="4CAF50"/>
            </a:solidFill>
          </a:ln>
        </p:spPr>
      </p:sp>
      <p:sp>
        <p:nvSpPr>
          <p:cNvPr id="18" name="Polygon 18"/>
          <p:cNvSpPr/>
          <p:nvPr/>
        </p:nvSpPr>
        <p:spPr>
          <a:xfrm>
            <a:off x="5334000" y="2905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4CAF50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5524500" y="2476500"/>
            <a:ext cx="1714500" cy="9525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986558" y="27117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4CAF50"/>
                </a:solidFill>
                <a:latin typeface="Segoe UI"/>
                <a:ea typeface="Microsoft YaHei"/>
                <a:cs typeface="Segoe UI"/>
              </a:rPr>
              <a:t>审批处理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049875" y="3029902"/>
            <a:ext cx="663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C757D"/>
                </a:solidFill>
                <a:latin typeface="Segoe UI"/>
                <a:ea typeface="Microsoft YaHei"/>
                <a:cs typeface="Segoe UI"/>
              </a:rPr>
              <a:t>同意/驳回</a:t>
            </a:r>
          </a:p>
        </p:txBody>
      </p:sp>
      <p:sp>
        <p:nvSpPr>
          <p:cNvPr id="22" name="Line 22"/>
          <p:cNvSpPr/>
          <p:nvPr/>
        </p:nvSpPr>
        <p:spPr>
          <a:xfrm>
            <a:off x="7239000" y="295275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8575">
            <a:solidFill>
              <a:srgbClr val="4CAF50"/>
            </a:solidFill>
          </a:ln>
        </p:spPr>
      </p:sp>
      <p:sp>
        <p:nvSpPr>
          <p:cNvPr id="23" name="Polygon 23"/>
          <p:cNvSpPr/>
          <p:nvPr/>
        </p:nvSpPr>
        <p:spPr>
          <a:xfrm>
            <a:off x="7620000" y="2905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4CAF50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7810500" y="2476500"/>
            <a:ext cx="1714500" cy="9525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083534" y="271176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4CAF50"/>
                </a:solidFill>
                <a:latin typeface="Segoe UI"/>
                <a:ea typeface="Microsoft YaHei"/>
                <a:cs typeface="Segoe UI"/>
              </a:rPr>
              <a:t>路由下一节点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74380" y="30299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C757D"/>
                </a:solidFill>
                <a:latin typeface="Segoe UI"/>
                <a:ea typeface="Microsoft YaHei"/>
                <a:cs typeface="Segoe UI"/>
              </a:rPr>
              <a:t>条件判断</a:t>
            </a:r>
          </a:p>
        </p:txBody>
      </p:sp>
      <p:sp>
        <p:nvSpPr>
          <p:cNvPr id="27" name="Line 27"/>
          <p:cNvSpPr/>
          <p:nvPr/>
        </p:nvSpPr>
        <p:spPr>
          <a:xfrm>
            <a:off x="9525000" y="295275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8575">
            <a:solidFill>
              <a:srgbClr val="4CAF50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9906000" y="2905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4CAF50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10096500" y="2476500"/>
            <a:ext cx="1428750" cy="952500"/>
          </a:xfrm>
          <a:prstGeom prst="roundRect">
            <a:avLst>
              <a:gd name="adj" fmla="val 8000"/>
            </a:avLst>
          </a:prstGeom>
          <a:solidFill>
            <a:srgbClr val="4CAF5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604706" y="28546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完成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62000" y="3810000"/>
            <a:ext cx="5334000" cy="2095500"/>
          </a:xfrm>
          <a:prstGeom prst="roundRect">
            <a:avLst>
              <a:gd name="adj" fmla="val 5455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2945987" y="401288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6B35"/>
                </a:solidFill>
                <a:latin typeface="Segoe UI"/>
                <a:ea typeface="Microsoft YaHei"/>
                <a:cs typeface="Segoe UI"/>
              </a:rPr>
              <a:t>支持特性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5855" y="4473892"/>
            <a:ext cx="23835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条件路由(金额/天数/层级)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5855" y="4807268"/>
            <a:ext cx="10064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会签/或签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25855" y="5140642"/>
            <a:ext cx="26446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✓ 任务委派/转交/超时提醒/撤回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477000" y="3810000"/>
            <a:ext cx="5143500" cy="2095500"/>
          </a:xfrm>
          <a:prstGeom prst="roundRect">
            <a:avLst>
              <a:gd name="adj" fmla="val 5455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386690" y="4012882"/>
            <a:ext cx="132412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4维分层路由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40855" y="4473892"/>
            <a:ext cx="2599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• 金额维度: 报销/借款金额分层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840855" y="4807268"/>
            <a:ext cx="21405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• 天数维度: 请假天数分层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840855" y="5140642"/>
            <a:ext cx="232057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• 层级维度: 发起人层级匹配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840855" y="5474018"/>
            <a:ext cx="21405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Segoe UI"/>
                <a:ea typeface="Microsoft YaHei"/>
                <a:cs typeface="Segoe UI"/>
              </a:rPr>
              <a:t>• 工时维度: 加班工时分层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543062" y="6617970"/>
            <a:ext cx="88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Segoe UI"/>
                <a:ea typeface="Microsoft YaHei"/>
                <a:cs typeface="Segoe UI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34710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工作流引擎技术创新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3429000" cy="4572000"/>
          </a:xfrm>
          <a:prstGeom prst="roundRect">
            <a:avLst>
              <a:gd name="adj" fmla="val 3333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823561" y="16154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图结构定义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6184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schemaVersion 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7985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nodes + edges 拓扑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1864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4维分层路由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381500" y="1333500"/>
            <a:ext cx="3429000" cy="4572000"/>
          </a:xfrm>
          <a:prstGeom prst="roundRect">
            <a:avLst>
              <a:gd name="adj" fmla="val 3333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317046" y="161544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业务回调解耦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45355" y="2140268"/>
            <a:ext cx="16994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Spring Event 发布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45355" y="2473642"/>
            <a:ext cx="16274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业务监听更新状态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45355" y="2807018"/>
            <a:ext cx="14474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零依赖业务代码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001000" y="1333500"/>
            <a:ext cx="3619500" cy="4572000"/>
          </a:xfrm>
          <a:prstGeom prst="roundRect">
            <a:avLst>
              <a:gd name="adj" fmla="val 3158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031796" y="161544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动态路由算法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64855" y="2140268"/>
            <a:ext cx="168149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role_chain 角色链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64855" y="2473642"/>
            <a:ext cx="20775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initiator_level_match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64855" y="2807018"/>
            <a:ext cx="190652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escalateTo 升级路由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34710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为什么自研而非开源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714958" y="16316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开源方案问题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22755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Activiti/Flowable 重量级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8705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Camunda 企业版收费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8075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通用引擎适配成本高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2865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4704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自研优势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50355" y="2140268"/>
            <a:ext cx="16004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轻量级 4张核心表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0355" y="2473642"/>
            <a:ext cx="16274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完全掌控路由逻辑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0355" y="2807018"/>
            <a:ext cx="16994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Spring Event 解耦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0355" y="3140392"/>
            <a:ext cx="10874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学习成本低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384905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数据库设计与版本管理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801594" y="1631632"/>
            <a:ext cx="12548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Flyway版本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V100 平台基础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5374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V200 工作流引擎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V900 种子数据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3140392"/>
            <a:ext cx="14564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V930+ 业务模块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865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704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设计规范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0355" y="2140268"/>
            <a:ext cx="12674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表名蛇形复数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0355" y="2473642"/>
            <a:ext cx="14294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Snowflake主键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0355" y="2807018"/>
            <a:ext cx="16274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审计字段自动填充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0355" y="3140392"/>
            <a:ext cx="15464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逻辑删除+乐观锁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271491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核心业务表设计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177016" y="1631632"/>
            <a:ext cx="5039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统计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5644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总计60+张业务表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0064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平台层5张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1864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工作流层4张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3140392"/>
            <a:ext cx="120443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业务层50+张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安全架构设计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9459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自研方案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4294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JWT HS256认证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8345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Filter+Interceptor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8705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@RequirePermission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3140392"/>
            <a:ext cx="237458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UserContext ThreadLocal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865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701516" y="1631632"/>
            <a:ext cx="5039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0355" y="2140268"/>
            <a:ext cx="22575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无Spring Security复杂性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0355" y="2473642"/>
            <a:ext cx="14204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避免DI循环依赖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0355" y="2807018"/>
            <a:ext cx="16274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完全掌控认证流程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权限体系设计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9459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功能权限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29056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权限码 module:resource:action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2674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角色关联权限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2674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用户关联角色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2865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291440" y="1631632"/>
            <a:ext cx="132412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数据权限5级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50355" y="2140268"/>
            <a:ext cx="9434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SELF本人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0355" y="2473642"/>
            <a:ext cx="11234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DEPT本部门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0355" y="2807018"/>
            <a:ext cx="1510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DEPT_DOWN下级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0355" y="3140392"/>
            <a:ext cx="13124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COMPANY公司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0355" y="3473768"/>
            <a:ext cx="8443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ALL全部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项目技术亮点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2667000" cy="4572000"/>
          </a:xfrm>
          <a:prstGeom prst="roundRect">
            <a:avLst>
              <a:gd name="adj" fmla="val 4286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551384" y="174307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自研工作流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78793" y="2521268"/>
            <a:ext cx="10334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4维分层路由</a:t>
            </a:r>
          </a:p>
        </p:txBody>
      </p:sp>
      <p:sp>
        <p:nvSpPr>
          <p:cNvPr id="8" name="Rectangle 8"/>
          <p:cNvSpPr/>
          <p:nvPr/>
        </p:nvSpPr>
        <p:spPr>
          <a:xfrm>
            <a:off x="3619500" y="1333500"/>
            <a:ext cx="2667000" cy="4572000"/>
          </a:xfrm>
          <a:prstGeom prst="roundRect">
            <a:avLst>
              <a:gd name="adj" fmla="val 4286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513898" y="17430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统一审批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95788" y="2521268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共享流程引擎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477000" y="1333500"/>
            <a:ext cx="2667000" cy="4572000"/>
          </a:xfrm>
          <a:prstGeom prst="roundRect">
            <a:avLst>
              <a:gd name="adj" fmla="val 4286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371398" y="17430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自研安全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56800" y="2521268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JWT拦截器</a:t>
            </a:r>
          </a:p>
        </p:txBody>
      </p:sp>
      <p:sp>
        <p:nvSpPr>
          <p:cNvPr id="14" name="Rectangle 14"/>
          <p:cNvSpPr/>
          <p:nvPr/>
        </p:nvSpPr>
        <p:spPr>
          <a:xfrm>
            <a:off x="9334500" y="1333500"/>
            <a:ext cx="2667000" cy="4572000"/>
          </a:xfrm>
          <a:prstGeom prst="roundRect">
            <a:avLst>
              <a:gd name="adj" fmla="val 4286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333911" y="1743075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多模块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11775" y="2521268"/>
            <a:ext cx="13124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18模块横向隔离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工程实践亮点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9459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开发规范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3034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统一响应R&lt;T&gt;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1954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TraceID追踪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2674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审计字段填充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3140392"/>
            <a:ext cx="14744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MapStruct映射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865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704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质量保障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0355" y="2140268"/>
            <a:ext cx="14924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Flyway版本管理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0355" y="2473642"/>
            <a:ext cx="19425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GitHub Actions CI/CD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0355" y="2807018"/>
            <a:ext cx="14744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Spotless格式化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0355" y="3140392"/>
            <a:ext cx="13664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单元+集成测试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309295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系统规模与完成度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9459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代码规模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6184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后端8000+行Java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4204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前端6000+行TS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8443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60+张表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3140392"/>
            <a:ext cx="8893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100+ API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865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586002" y="1631632"/>
            <a:ext cx="73499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完成度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0355" y="2140268"/>
            <a:ext cx="13664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8大业务域完成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0355" y="2473642"/>
            <a:ext cx="10874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工作流完整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0355" y="2807018"/>
            <a:ext cx="10874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全链路打通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0355" y="3140392"/>
            <a:ext cx="10874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前后端对接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367893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系统演示:工作台首页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177016" y="1631632"/>
            <a:ext cx="5039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功能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2674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待办任务中心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快捷入口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最近访问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3140392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消息通知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5855" y="3473768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数据看板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330088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系统演示:审批流程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9459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关键功能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4474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流程进度可视化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2674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审批意见填写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2674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任务委派转交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3140392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流程撤回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5855" y="3473768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消息推送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项目总结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9459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完成成果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1414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完整OA系统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0064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8大业务域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0874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自研工作流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3140392"/>
            <a:ext cx="8893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100+ API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865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704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技术收获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0355" y="2140268"/>
            <a:ext cx="12674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企业架构设计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0355" y="2473642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全栈开发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0355" y="2807018"/>
            <a:ext cx="10874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多模块管理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0355" y="3140392"/>
            <a:ext cx="9974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CI/CD实践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CAF5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18478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未来展望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9459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Microsoft YaHei"/>
                <a:ea typeface="Microsoft YaHei"/>
                <a:cs typeface="Microsoft YaHei"/>
              </a:rPr>
              <a:t>功能扩展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2140268"/>
            <a:ext cx="10874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移动端支持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855" y="2473642"/>
            <a:ext cx="10604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BI数据分析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807018"/>
            <a:ext cx="14474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流程可视化配置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3140392"/>
            <a:ext cx="11234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多租户SaaS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86500" y="1333500"/>
            <a:ext cx="5334000" cy="4572000"/>
          </a:xfrm>
          <a:prstGeom prst="roundRect">
            <a:avLst>
              <a:gd name="adj" fmla="val 2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70487" y="16316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技术优化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50355" y="2140268"/>
            <a:ext cx="9974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Redis缓存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0355" y="2473642"/>
            <a:ext cx="110542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ES全文检索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0355" y="2807018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消息队列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0355" y="3140392"/>
            <a:ext cx="907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• 微服务化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77054" y="6617970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DB5B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2026-06-11T03:32:48Z</dcterms:created>
  <dcterms:modified xsi:type="dcterms:W3CDTF">2026-06-11T03:32:48Z</dcterms:modified>
  <cp:category/>
  <cp:contentStatus/>
</cp:coreProperties>
</file>